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entation.xml" ContentType="application/vnd.openxmlformats-officedocument.presentationml.presentation.main+xml"/>
  <Override PartName="/ppt/slides/slide16.xml" ContentType="application/vnd.openxmlformats-officedocument.presentationml.slide+xml"/>
  <Override PartName="/ppt/slides/slide17.xml" ContentType="application/vnd.openxmlformats-officedocument.presentationml.slide+xml"/>
  <Override PartName="/ppt/slides/slide1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theme/theme4.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5.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840" r:id="rId1"/>
    <p:sldMasterId id="2147483853" r:id="rId2"/>
    <p:sldMasterId id="2147484044" r:id="rId3"/>
  </p:sldMasterIdLst>
  <p:notesMasterIdLst>
    <p:notesMasterId r:id="rId21"/>
  </p:notesMasterIdLst>
  <p:handoutMasterIdLst>
    <p:handoutMasterId r:id="rId22"/>
  </p:handoutMasterIdLst>
  <p:sldIdLst>
    <p:sldId id="547" r:id="rId4"/>
    <p:sldId id="589" r:id="rId5"/>
    <p:sldId id="653" r:id="rId6"/>
    <p:sldId id="652" r:id="rId7"/>
    <p:sldId id="672" r:id="rId8"/>
    <p:sldId id="673" r:id="rId9"/>
    <p:sldId id="674" r:id="rId10"/>
    <p:sldId id="676" r:id="rId11"/>
    <p:sldId id="675" r:id="rId12"/>
    <p:sldId id="671" r:id="rId13"/>
    <p:sldId id="654" r:id="rId14"/>
    <p:sldId id="668" r:id="rId15"/>
    <p:sldId id="655" r:id="rId16"/>
    <p:sldId id="679" r:id="rId17"/>
    <p:sldId id="677" r:id="rId18"/>
    <p:sldId id="670" r:id="rId19"/>
    <p:sldId id="667" r:id="rId20"/>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pitchFamily="34"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pitchFamily="34"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pitchFamily="34"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pitchFamily="34"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pitchFamily="34" charset="0"/>
      </a:defRPr>
    </a:lvl5pPr>
    <a:lvl6pPr marL="2286000" algn="l" defTabSz="914400" rtl="0" eaLnBrk="1" latinLnBrk="0" hangingPunct="1">
      <a:defRPr sz="2400" kern="1200">
        <a:solidFill>
          <a:schemeClr val="tx1"/>
        </a:solidFill>
        <a:latin typeface="Times New Roman" pitchFamily="18" charset="0"/>
        <a:ea typeface="+mn-ea"/>
        <a:cs typeface="Arial" pitchFamily="34" charset="0"/>
      </a:defRPr>
    </a:lvl6pPr>
    <a:lvl7pPr marL="2743200" algn="l" defTabSz="914400" rtl="0" eaLnBrk="1" latinLnBrk="0" hangingPunct="1">
      <a:defRPr sz="2400" kern="1200">
        <a:solidFill>
          <a:schemeClr val="tx1"/>
        </a:solidFill>
        <a:latin typeface="Times New Roman" pitchFamily="18" charset="0"/>
        <a:ea typeface="+mn-ea"/>
        <a:cs typeface="Arial" pitchFamily="34" charset="0"/>
      </a:defRPr>
    </a:lvl7pPr>
    <a:lvl8pPr marL="3200400" algn="l" defTabSz="914400" rtl="0" eaLnBrk="1" latinLnBrk="0" hangingPunct="1">
      <a:defRPr sz="2400" kern="1200">
        <a:solidFill>
          <a:schemeClr val="tx1"/>
        </a:solidFill>
        <a:latin typeface="Times New Roman" pitchFamily="18" charset="0"/>
        <a:ea typeface="+mn-ea"/>
        <a:cs typeface="Arial" pitchFamily="34" charset="0"/>
      </a:defRPr>
    </a:lvl8pPr>
    <a:lvl9pPr marL="3657600" algn="l" defTabSz="914400" rtl="0" eaLnBrk="1" latinLnBrk="0" hangingPunct="1">
      <a:defRPr sz="2400" kern="1200">
        <a:solidFill>
          <a:schemeClr val="tx1"/>
        </a:solidFill>
        <a:latin typeface="Times New Roman" pitchFamily="18"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53" autoAdjust="0"/>
    <p:restoredTop sz="95146" autoAdjust="0"/>
  </p:normalViewPr>
  <p:slideViewPr>
    <p:cSldViewPr>
      <p:cViewPr varScale="1">
        <p:scale>
          <a:sx n="103" d="100"/>
          <a:sy n="103" d="100"/>
        </p:scale>
        <p:origin x="114" y="1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notesViewPr>
    <p:cSldViewPr>
      <p:cViewPr varScale="1">
        <p:scale>
          <a:sx n="82" d="100"/>
          <a:sy n="82" d="100"/>
        </p:scale>
        <p:origin x="3198" y="10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handoutMaster" Target="handoutMasters/handoutMaster1.xml"/><Relationship Id="rId27" Type="http://schemas.openxmlformats.org/officeDocument/2006/relationships/customXml" Target="../customXml/item1.xml"/><Relationship Id="rId30" Type="http://schemas.openxmlformats.org/officeDocument/2006/relationships/customXml" Target="../customXml/item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atin typeface="Times New Roman" charset="0"/>
                <a:cs typeface="+mn-cs"/>
              </a:defRPr>
            </a:lvl1pPr>
          </a:lstStyle>
          <a:p>
            <a:pPr>
              <a:defRPr/>
            </a:pPr>
            <a:endParaRPr lang="en-US" dirty="0"/>
          </a:p>
        </p:txBody>
      </p:sp>
      <p:sp>
        <p:nvSpPr>
          <p:cNvPr id="6147" name="Rectangle 3"/>
          <p:cNvSpPr>
            <a:spLocks noGrp="1" noChangeArrowheads="1"/>
          </p:cNvSpPr>
          <p:nvPr>
            <p:ph type="dt" sz="quarter" idx="1"/>
          </p:nvPr>
        </p:nvSpPr>
        <p:spPr bwMode="auto">
          <a:xfrm>
            <a:off x="397256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Times New Roman" charset="0"/>
                <a:cs typeface="+mn-cs"/>
              </a:defRPr>
            </a:lvl1pPr>
          </a:lstStyle>
          <a:p>
            <a:pPr>
              <a:defRPr/>
            </a:pPr>
            <a:endParaRPr lang="en-US" dirty="0"/>
          </a:p>
        </p:txBody>
      </p:sp>
      <p:sp>
        <p:nvSpPr>
          <p:cNvPr id="6148" name="Rectangle 4"/>
          <p:cNvSpPr>
            <a:spLocks noGrp="1" noChangeArrowheads="1"/>
          </p:cNvSpPr>
          <p:nvPr>
            <p:ph type="ftr" sz="quarter" idx="2"/>
          </p:nvPr>
        </p:nvSpPr>
        <p:spPr bwMode="auto">
          <a:xfrm>
            <a:off x="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atin typeface="Times New Roman" charset="0"/>
                <a:cs typeface="+mn-cs"/>
              </a:defRPr>
            </a:lvl1pPr>
          </a:lstStyle>
          <a:p>
            <a:pPr>
              <a:defRPr/>
            </a:pPr>
            <a:endParaRPr lang="en-US" dirty="0"/>
          </a:p>
        </p:txBody>
      </p:sp>
      <p:sp>
        <p:nvSpPr>
          <p:cNvPr id="6149" name="Rectangle 5"/>
          <p:cNvSpPr>
            <a:spLocks noGrp="1" noChangeArrowheads="1"/>
          </p:cNvSpPr>
          <p:nvPr>
            <p:ph type="sldNum" sz="quarter" idx="3"/>
          </p:nvPr>
        </p:nvSpPr>
        <p:spPr bwMode="auto">
          <a:xfrm>
            <a:off x="397256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atin typeface="Times New Roman" charset="0"/>
                <a:cs typeface="+mn-cs"/>
              </a:defRPr>
            </a:lvl1pPr>
          </a:lstStyle>
          <a:p>
            <a:pPr>
              <a:defRPr/>
            </a:pPr>
            <a:fld id="{CE4E6279-1811-451B-B694-7B92B45084FC}" type="slidenum">
              <a:rPr lang="en-US"/>
              <a:pPr>
                <a:defRPr/>
              </a:pPr>
              <a:t>‹#›</a:t>
            </a:fld>
            <a:endParaRPr lang="en-US" dirty="0"/>
          </a:p>
        </p:txBody>
      </p:sp>
    </p:spTree>
    <p:extLst>
      <p:ext uri="{BB962C8B-B14F-4D97-AF65-F5344CB8AC3E}">
        <p14:creationId xmlns:p14="http://schemas.microsoft.com/office/powerpoint/2010/main" val="894708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6066"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atin typeface="Times New Roman" charset="0"/>
                <a:cs typeface="+mn-cs"/>
              </a:defRPr>
            </a:lvl1pPr>
          </a:lstStyle>
          <a:p>
            <a:pPr>
              <a:defRPr/>
            </a:pPr>
            <a:endParaRPr lang="en-US" dirty="0"/>
          </a:p>
        </p:txBody>
      </p:sp>
      <p:sp>
        <p:nvSpPr>
          <p:cNvPr id="216067" name="Rectangle 3"/>
          <p:cNvSpPr>
            <a:spLocks noGrp="1" noChangeArrowheads="1"/>
          </p:cNvSpPr>
          <p:nvPr>
            <p:ph type="dt" idx="1"/>
          </p:nvPr>
        </p:nvSpPr>
        <p:spPr bwMode="auto">
          <a:xfrm>
            <a:off x="397256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Times New Roman" charset="0"/>
                <a:cs typeface="+mn-cs"/>
              </a:defRPr>
            </a:lvl1pPr>
          </a:lstStyle>
          <a:p>
            <a:pPr>
              <a:defRPr/>
            </a:pPr>
            <a:endParaRPr lang="en-US" dirty="0"/>
          </a:p>
        </p:txBody>
      </p:sp>
      <p:sp>
        <p:nvSpPr>
          <p:cNvPr id="51204"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6069" name="Rectangle 5"/>
          <p:cNvSpPr>
            <a:spLocks noGrp="1" noChangeArrowheads="1"/>
          </p:cNvSpPr>
          <p:nvPr>
            <p:ph type="body" sz="quarter" idx="3"/>
          </p:nvPr>
        </p:nvSpPr>
        <p:spPr bwMode="auto">
          <a:xfrm>
            <a:off x="934720" y="4415790"/>
            <a:ext cx="5140960" cy="41833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6070" name="Rectangle 6"/>
          <p:cNvSpPr>
            <a:spLocks noGrp="1" noChangeArrowheads="1"/>
          </p:cNvSpPr>
          <p:nvPr>
            <p:ph type="ftr" sz="quarter" idx="4"/>
          </p:nvPr>
        </p:nvSpPr>
        <p:spPr bwMode="auto">
          <a:xfrm>
            <a:off x="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atin typeface="Times New Roman" charset="0"/>
                <a:cs typeface="+mn-cs"/>
              </a:defRPr>
            </a:lvl1pPr>
          </a:lstStyle>
          <a:p>
            <a:pPr>
              <a:defRPr/>
            </a:pPr>
            <a:endParaRPr lang="en-US" dirty="0"/>
          </a:p>
        </p:txBody>
      </p:sp>
      <p:sp>
        <p:nvSpPr>
          <p:cNvPr id="216071" name="Rectangle 7"/>
          <p:cNvSpPr>
            <a:spLocks noGrp="1" noChangeArrowheads="1"/>
          </p:cNvSpPr>
          <p:nvPr>
            <p:ph type="sldNum" sz="quarter" idx="5"/>
          </p:nvPr>
        </p:nvSpPr>
        <p:spPr bwMode="auto">
          <a:xfrm>
            <a:off x="397256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atin typeface="Times New Roman" charset="0"/>
                <a:cs typeface="+mn-cs"/>
              </a:defRPr>
            </a:lvl1pPr>
          </a:lstStyle>
          <a:p>
            <a:pPr>
              <a:defRPr/>
            </a:pPr>
            <a:fld id="{8575597D-2ACB-45E8-99C3-78983A4A913F}" type="slidenum">
              <a:rPr lang="en-US"/>
              <a:pPr>
                <a:defRPr/>
              </a:pPr>
              <a:t>‹#›</a:t>
            </a:fld>
            <a:endParaRPr lang="en-US" dirty="0"/>
          </a:p>
        </p:txBody>
      </p:sp>
    </p:spTree>
    <p:extLst>
      <p:ext uri="{BB962C8B-B14F-4D97-AF65-F5344CB8AC3E}">
        <p14:creationId xmlns:p14="http://schemas.microsoft.com/office/powerpoint/2010/main" val="2991106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8575597D-2ACB-45E8-99C3-78983A4A913F}" type="slidenum">
              <a:rPr lang="en-US" smtClean="0"/>
              <a:pPr>
                <a:defRPr/>
              </a:pPr>
              <a:t>1</a:t>
            </a:fld>
            <a:endParaRPr lang="en-US" dirty="0"/>
          </a:p>
        </p:txBody>
      </p:sp>
    </p:spTree>
    <p:extLst>
      <p:ext uri="{BB962C8B-B14F-4D97-AF65-F5344CB8AC3E}">
        <p14:creationId xmlns:p14="http://schemas.microsoft.com/office/powerpoint/2010/main" val="3688144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7"/>
          <p:cNvSpPr>
            <a:spLocks noChangeShapeType="1"/>
          </p:cNvSpPr>
          <p:nvPr/>
        </p:nvSpPr>
        <p:spPr bwMode="auto">
          <a:xfrm>
            <a:off x="1905000" y="1219200"/>
            <a:ext cx="0" cy="2057400"/>
          </a:xfrm>
          <a:prstGeom prst="line">
            <a:avLst/>
          </a:prstGeom>
          <a:noFill/>
          <a:ln w="34925">
            <a:solidFill>
              <a:schemeClr val="tx2"/>
            </a:solidFill>
            <a:round/>
            <a:headEnd/>
            <a:tailEnd/>
          </a:ln>
          <a:effectLst/>
        </p:spPr>
        <p:txBody>
          <a:bodyPr/>
          <a:lstStyle/>
          <a:p>
            <a:pPr fontAlgn="auto">
              <a:spcBef>
                <a:spcPts val="0"/>
              </a:spcBef>
              <a:spcAft>
                <a:spcPts val="0"/>
              </a:spcAft>
              <a:defRPr/>
            </a:pPr>
            <a:endParaRPr lang="en-US" dirty="0">
              <a:latin typeface="+mn-lt"/>
              <a:cs typeface="+mn-cs"/>
            </a:endParaRPr>
          </a:p>
        </p:txBody>
      </p:sp>
      <p:sp>
        <p:nvSpPr>
          <p:cNvPr id="5" name="Oval 8"/>
          <p:cNvSpPr>
            <a:spLocks noChangeArrowheads="1"/>
          </p:cNvSpPr>
          <p:nvPr/>
        </p:nvSpPr>
        <p:spPr bwMode="auto">
          <a:xfrm>
            <a:off x="163513" y="2103438"/>
            <a:ext cx="347662" cy="347662"/>
          </a:xfrm>
          <a:prstGeom prst="ellipse">
            <a:avLst/>
          </a:prstGeom>
          <a:solidFill>
            <a:schemeClr val="tx1"/>
          </a:solidFill>
          <a:ln w="9525">
            <a:noFill/>
            <a:round/>
            <a:headEnd/>
            <a:tailEnd/>
          </a:ln>
          <a:effectLst/>
        </p:spPr>
        <p:txBody>
          <a:bodyPr wrap="none" anchor="ctr"/>
          <a:lstStyle/>
          <a:p>
            <a:pPr algn="ctr" fontAlgn="auto">
              <a:spcBef>
                <a:spcPts val="0"/>
              </a:spcBef>
              <a:spcAft>
                <a:spcPts val="0"/>
              </a:spcAft>
              <a:defRPr/>
            </a:pPr>
            <a:endParaRPr lang="en-US" dirty="0">
              <a:cs typeface="+mn-cs"/>
            </a:endParaRPr>
          </a:p>
        </p:txBody>
      </p:sp>
      <p:sp>
        <p:nvSpPr>
          <p:cNvPr id="6" name="Oval 9"/>
          <p:cNvSpPr>
            <a:spLocks noChangeArrowheads="1"/>
          </p:cNvSpPr>
          <p:nvPr/>
        </p:nvSpPr>
        <p:spPr bwMode="auto">
          <a:xfrm>
            <a:off x="739775" y="2105025"/>
            <a:ext cx="349250" cy="347663"/>
          </a:xfrm>
          <a:prstGeom prst="ellipse">
            <a:avLst/>
          </a:prstGeom>
          <a:solidFill>
            <a:schemeClr val="accent1"/>
          </a:solidFill>
          <a:ln w="9525">
            <a:noFill/>
            <a:round/>
            <a:headEnd/>
            <a:tailEnd/>
          </a:ln>
          <a:effectLst/>
        </p:spPr>
        <p:txBody>
          <a:bodyPr wrap="none" anchor="ctr"/>
          <a:lstStyle/>
          <a:p>
            <a:pPr algn="ctr" fontAlgn="auto">
              <a:spcBef>
                <a:spcPts val="0"/>
              </a:spcBef>
              <a:spcAft>
                <a:spcPts val="0"/>
              </a:spcAft>
              <a:defRPr/>
            </a:pPr>
            <a:endParaRPr lang="en-US" dirty="0">
              <a:cs typeface="+mn-cs"/>
            </a:endParaRPr>
          </a:p>
        </p:txBody>
      </p:sp>
      <p:sp>
        <p:nvSpPr>
          <p:cNvPr id="7" name="Oval 10"/>
          <p:cNvSpPr>
            <a:spLocks noChangeArrowheads="1"/>
          </p:cNvSpPr>
          <p:nvPr/>
        </p:nvSpPr>
        <p:spPr bwMode="auto">
          <a:xfrm>
            <a:off x="1317625" y="2105025"/>
            <a:ext cx="347663" cy="347663"/>
          </a:xfrm>
          <a:prstGeom prst="ellipse">
            <a:avLst/>
          </a:prstGeom>
          <a:solidFill>
            <a:schemeClr val="accent2"/>
          </a:solidFill>
          <a:ln w="9525">
            <a:noFill/>
            <a:round/>
            <a:headEnd/>
            <a:tailEnd/>
          </a:ln>
          <a:effectLst/>
        </p:spPr>
        <p:txBody>
          <a:bodyPr wrap="none" anchor="ctr"/>
          <a:lstStyle/>
          <a:p>
            <a:pPr algn="ctr" fontAlgn="auto">
              <a:spcBef>
                <a:spcPts val="0"/>
              </a:spcBef>
              <a:spcAft>
                <a:spcPts val="0"/>
              </a:spcAft>
              <a:defRPr/>
            </a:pPr>
            <a:endParaRPr lang="en-US" dirty="0">
              <a:cs typeface="+mn-cs"/>
            </a:endParaRPr>
          </a:p>
        </p:txBody>
      </p:sp>
      <p:sp>
        <p:nvSpPr>
          <p:cNvPr id="33794" name="Rectangle 2"/>
          <p:cNvSpPr>
            <a:spLocks noGrp="1" noChangeArrowheads="1"/>
          </p:cNvSpPr>
          <p:nvPr>
            <p:ph type="ctrTitle"/>
          </p:nvPr>
        </p:nvSpPr>
        <p:spPr>
          <a:xfrm>
            <a:off x="2133600" y="1371600"/>
            <a:ext cx="6477000" cy="1752600"/>
          </a:xfrm>
        </p:spPr>
        <p:txBody>
          <a:bodyPr/>
          <a:lstStyle>
            <a:lvl1pPr>
              <a:defRPr sz="5400"/>
            </a:lvl1pPr>
          </a:lstStyle>
          <a:p>
            <a:r>
              <a:rPr lang="en-US"/>
              <a:t>Click to edit Master title style</a:t>
            </a:r>
            <a:endParaRPr lang="en-US" dirty="0"/>
          </a:p>
        </p:txBody>
      </p:sp>
      <p:sp>
        <p:nvSpPr>
          <p:cNvPr id="33795" name="Rectangle 3"/>
          <p:cNvSpPr>
            <a:spLocks noGrp="1" noChangeArrowheads="1"/>
          </p:cNvSpPr>
          <p:nvPr>
            <p:ph type="subTitle" idx="1"/>
          </p:nvPr>
        </p:nvSpPr>
        <p:spPr>
          <a:xfrm>
            <a:off x="2133600" y="3733800"/>
            <a:ext cx="6477000" cy="1981200"/>
          </a:xfrm>
        </p:spPr>
        <p:txBody>
          <a:bodyPr/>
          <a:lstStyle>
            <a:lvl1pPr marL="0" indent="0">
              <a:buFont typeface="Wingdings" pitchFamily="2" charset="2"/>
              <a:buNone/>
              <a:defRPr/>
            </a:lvl1pPr>
          </a:lstStyle>
          <a:p>
            <a:r>
              <a:rPr lang="en-US"/>
              <a:t>Click to edit Master subtitle style</a:t>
            </a:r>
            <a:endParaRPr lang="en-US" dirty="0"/>
          </a:p>
        </p:txBody>
      </p:sp>
      <p:sp>
        <p:nvSpPr>
          <p:cNvPr id="8" name="Rectangle 4"/>
          <p:cNvSpPr>
            <a:spLocks noGrp="1" noChangeArrowheads="1"/>
          </p:cNvSpPr>
          <p:nvPr>
            <p:ph type="dt" sz="half" idx="10"/>
          </p:nvPr>
        </p:nvSpPr>
        <p:spPr>
          <a:xfrm>
            <a:off x="7086600" y="6248400"/>
            <a:ext cx="1524000" cy="457200"/>
          </a:xfrm>
        </p:spPr>
        <p:txBody>
          <a:bodyPr/>
          <a:lstStyle>
            <a:lvl1pPr>
              <a:defRPr smtClean="0"/>
            </a:lvl1pPr>
          </a:lstStyle>
          <a:p>
            <a:pPr>
              <a:defRPr/>
            </a:pPr>
            <a:fld id="{0129BC73-7B5C-4167-86F5-2333ACAE0B67}" type="datetime1">
              <a:rPr lang="en-US" smtClean="0"/>
              <a:pPr>
                <a:defRPr/>
              </a:pPr>
              <a:t>06/16/2020</a:t>
            </a:fld>
            <a:endParaRPr lang="en-US" dirty="0"/>
          </a:p>
        </p:txBody>
      </p:sp>
      <p:sp>
        <p:nvSpPr>
          <p:cNvPr id="9" name="Rectangle 5"/>
          <p:cNvSpPr>
            <a:spLocks noGrp="1" noChangeArrowheads="1"/>
          </p:cNvSpPr>
          <p:nvPr>
            <p:ph type="ftr" sz="quarter" idx="11"/>
          </p:nvPr>
        </p:nvSpPr>
        <p:spPr>
          <a:xfrm>
            <a:off x="3810000" y="6248400"/>
            <a:ext cx="2895600" cy="457200"/>
          </a:xfrm>
        </p:spPr>
        <p:txBody>
          <a:bodyPr/>
          <a:lstStyle>
            <a:lvl1pPr>
              <a:defRPr smtClean="0"/>
            </a:lvl1pPr>
          </a:lstStyle>
          <a:p>
            <a:pPr>
              <a:defRPr/>
            </a:pPr>
            <a:r>
              <a:rPr lang="en-US" dirty="0"/>
              <a:t>DRAFT</a:t>
            </a:r>
          </a:p>
        </p:txBody>
      </p:sp>
      <p:sp>
        <p:nvSpPr>
          <p:cNvPr id="10" name="Rectangle 6"/>
          <p:cNvSpPr>
            <a:spLocks noGrp="1" noChangeArrowheads="1"/>
          </p:cNvSpPr>
          <p:nvPr>
            <p:ph type="sldNum" sz="quarter" idx="12"/>
          </p:nvPr>
        </p:nvSpPr>
        <p:spPr>
          <a:xfrm>
            <a:off x="2209800" y="6248400"/>
            <a:ext cx="1219200" cy="457200"/>
          </a:xfrm>
        </p:spPr>
        <p:txBody>
          <a:bodyPr/>
          <a:lstStyle>
            <a:lvl1pPr>
              <a:defRPr/>
            </a:lvl1pPr>
          </a:lstStyle>
          <a:p>
            <a:pPr>
              <a:defRPr/>
            </a:pPr>
            <a:fld id="{98CCBC11-1537-4B6A-BC68-D34467403B1A}" type="slidenum">
              <a:rPr lang="en-US"/>
              <a:pPr>
                <a:defRPr/>
              </a:pPr>
              <a:t>‹#›</a:t>
            </a:fld>
            <a:endParaRPr lang="en-US" dirty="0"/>
          </a:p>
        </p:txBody>
      </p:sp>
    </p:spTree>
    <p:extLst>
      <p:ext uri="{BB962C8B-B14F-4D97-AF65-F5344CB8AC3E}">
        <p14:creationId xmlns:p14="http://schemas.microsoft.com/office/powerpoint/2010/main" val="3452324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p:txBody>
      </p:sp>
      <p:sp>
        <p:nvSpPr>
          <p:cNvPr id="4" name="Rectangle 4"/>
          <p:cNvSpPr>
            <a:spLocks noGrp="1" noChangeArrowheads="1"/>
          </p:cNvSpPr>
          <p:nvPr>
            <p:ph type="dt" sz="half" idx="10"/>
          </p:nvPr>
        </p:nvSpPr>
        <p:spPr>
          <a:ln/>
        </p:spPr>
        <p:txBody>
          <a:bodyPr/>
          <a:lstStyle>
            <a:lvl1pPr>
              <a:defRPr/>
            </a:lvl1pPr>
          </a:lstStyle>
          <a:p>
            <a:pPr>
              <a:defRPr/>
            </a:pPr>
            <a:fld id="{BBFA2F79-DF02-47AD-A497-D523827584CA}" type="datetime1">
              <a:rPr lang="en-US" smtClean="0"/>
              <a:pPr>
                <a:defRPr/>
              </a:pPr>
              <a:t>06/16/2020</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6" name="Rectangle 6"/>
          <p:cNvSpPr>
            <a:spLocks noGrp="1" noChangeArrowheads="1"/>
          </p:cNvSpPr>
          <p:nvPr>
            <p:ph type="sldNum" sz="quarter" idx="12"/>
          </p:nvPr>
        </p:nvSpPr>
        <p:spPr>
          <a:ln/>
        </p:spPr>
        <p:txBody>
          <a:bodyPr/>
          <a:lstStyle>
            <a:lvl1pPr>
              <a:defRPr/>
            </a:lvl1pPr>
          </a:lstStyle>
          <a:p>
            <a:pPr>
              <a:defRPr/>
            </a:pPr>
            <a:fld id="{D1F23AA4-22D0-4F24-9BF8-ECB1223B5945}" type="slidenum">
              <a:rPr lang="en-US"/>
              <a:pPr>
                <a:defRPr/>
              </a:pPr>
              <a:t>‹#›</a:t>
            </a:fld>
            <a:endParaRPr lang="en-US" dirty="0"/>
          </a:p>
        </p:txBody>
      </p:sp>
    </p:spTree>
    <p:extLst>
      <p:ext uri="{BB962C8B-B14F-4D97-AF65-F5344CB8AC3E}">
        <p14:creationId xmlns:p14="http://schemas.microsoft.com/office/powerpoint/2010/main" val="1193139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D3E23492-5A61-4578-8738-D8B34D79E50D}" type="datetime1">
              <a:rPr lang="en-US" smtClean="0"/>
              <a:pPr>
                <a:defRPr/>
              </a:pPr>
              <a:t>06/16/2020</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6" name="Rectangle 6"/>
          <p:cNvSpPr>
            <a:spLocks noGrp="1" noChangeArrowheads="1"/>
          </p:cNvSpPr>
          <p:nvPr>
            <p:ph type="sldNum" sz="quarter" idx="12"/>
          </p:nvPr>
        </p:nvSpPr>
        <p:spPr>
          <a:ln/>
        </p:spPr>
        <p:txBody>
          <a:bodyPr/>
          <a:lstStyle>
            <a:lvl1pPr>
              <a:defRPr/>
            </a:lvl1pPr>
          </a:lstStyle>
          <a:p>
            <a:pPr>
              <a:defRPr/>
            </a:pPr>
            <a:fld id="{D6002194-E961-46CF-BAFD-2F1F81D85355}" type="slidenum">
              <a:rPr lang="en-US"/>
              <a:pPr>
                <a:defRPr/>
              </a:pPr>
              <a:t>‹#›</a:t>
            </a:fld>
            <a:endParaRPr lang="en-US" dirty="0"/>
          </a:p>
        </p:txBody>
      </p:sp>
    </p:spTree>
    <p:extLst>
      <p:ext uri="{BB962C8B-B14F-4D97-AF65-F5344CB8AC3E}">
        <p14:creationId xmlns:p14="http://schemas.microsoft.com/office/powerpoint/2010/main" val="1323161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83D2C9D5-F534-4CA8-BEB9-3E1A6BA6EB69}" type="datetime1">
              <a:rPr lang="en-US" smtClean="0"/>
              <a:pPr>
                <a:defRPr/>
              </a:pPr>
              <a:t>06/16/2020</a:t>
            </a:fld>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5" name="Rectangle 6"/>
          <p:cNvSpPr>
            <a:spLocks noGrp="1" noChangeArrowheads="1"/>
          </p:cNvSpPr>
          <p:nvPr>
            <p:ph type="sldNum" sz="quarter" idx="12"/>
          </p:nvPr>
        </p:nvSpPr>
        <p:spPr>
          <a:ln/>
        </p:spPr>
        <p:txBody>
          <a:bodyPr/>
          <a:lstStyle>
            <a:lvl1pPr>
              <a:defRPr/>
            </a:lvl1pPr>
          </a:lstStyle>
          <a:p>
            <a:pPr>
              <a:defRPr/>
            </a:pPr>
            <a:fld id="{2E687AD0-B006-474A-A663-63F6FB910564}" type="slidenum">
              <a:rPr lang="en-US"/>
              <a:pPr>
                <a:defRPr/>
              </a:pPr>
              <a:t>‹#›</a:t>
            </a:fld>
            <a:endParaRPr lang="en-US" dirty="0"/>
          </a:p>
        </p:txBody>
      </p:sp>
    </p:spTree>
    <p:extLst>
      <p:ext uri="{BB962C8B-B14F-4D97-AF65-F5344CB8AC3E}">
        <p14:creationId xmlns:p14="http://schemas.microsoft.com/office/powerpoint/2010/main" val="4249478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54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B39D81DA-B58F-4F3F-87EE-2D54FE4BE553}" type="datetime1">
              <a:rPr lang="en-US" smtClean="0"/>
              <a:pPr>
                <a:defRPr/>
              </a:pPr>
              <a:t>06/16/2020</a:t>
            </a:fld>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7" name="Rectangle 6"/>
          <p:cNvSpPr>
            <a:spLocks noGrp="1" noChangeArrowheads="1"/>
          </p:cNvSpPr>
          <p:nvPr>
            <p:ph type="sldNum" sz="quarter" idx="12"/>
          </p:nvPr>
        </p:nvSpPr>
        <p:spPr>
          <a:ln/>
        </p:spPr>
        <p:txBody>
          <a:bodyPr/>
          <a:lstStyle>
            <a:lvl1pPr>
              <a:defRPr/>
            </a:lvl1pPr>
          </a:lstStyle>
          <a:p>
            <a:pPr>
              <a:defRPr/>
            </a:pPr>
            <a:fld id="{E8475DEA-1429-49EE-B4BC-255369530AE3}" type="slidenum">
              <a:rPr lang="en-US"/>
              <a:pPr>
                <a:defRPr/>
              </a:pPr>
              <a:t>‹#›</a:t>
            </a:fld>
            <a:endParaRPr lang="en-US" dirty="0"/>
          </a:p>
        </p:txBody>
      </p:sp>
    </p:spTree>
    <p:extLst>
      <p:ext uri="{BB962C8B-B14F-4D97-AF65-F5344CB8AC3E}">
        <p14:creationId xmlns:p14="http://schemas.microsoft.com/office/powerpoint/2010/main" val="3191288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C264A481-C291-4477-8413-AE85F8117C10}" type="datetime1">
              <a:rPr lang="en-US" smtClean="0"/>
              <a:pPr>
                <a:defRPr/>
              </a:pPr>
              <a:t>06/16/2020</a:t>
            </a:fld>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9" name="Rectangle 6"/>
          <p:cNvSpPr>
            <a:spLocks noGrp="1" noChangeArrowheads="1"/>
          </p:cNvSpPr>
          <p:nvPr>
            <p:ph type="sldNum" sz="quarter" idx="12"/>
          </p:nvPr>
        </p:nvSpPr>
        <p:spPr>
          <a:ln/>
        </p:spPr>
        <p:txBody>
          <a:bodyPr/>
          <a:lstStyle>
            <a:lvl1pPr>
              <a:defRPr/>
            </a:lvl1pPr>
          </a:lstStyle>
          <a:p>
            <a:pPr>
              <a:defRPr/>
            </a:pPr>
            <a:fld id="{8FC562A9-75A7-4AE5-9639-320A6D47925F}" type="slidenum">
              <a:rPr lang="en-US"/>
              <a:pPr>
                <a:defRPr/>
              </a:pPr>
              <a:t>‹#›</a:t>
            </a:fld>
            <a:endParaRPr lang="en-US" dirty="0"/>
          </a:p>
        </p:txBody>
      </p:sp>
    </p:spTree>
    <p:extLst>
      <p:ext uri="{BB962C8B-B14F-4D97-AF65-F5344CB8AC3E}">
        <p14:creationId xmlns:p14="http://schemas.microsoft.com/office/powerpoint/2010/main" val="2521716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AA3B108E-3F54-4B9D-A367-CF8347C2253B}" type="datetime1">
              <a:rPr lang="en-US" smtClean="0"/>
              <a:pPr>
                <a:defRPr/>
              </a:pPr>
              <a:t>06/16/2020</a:t>
            </a:fld>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5" name="Rectangle 6"/>
          <p:cNvSpPr>
            <a:spLocks noGrp="1" noChangeArrowheads="1"/>
          </p:cNvSpPr>
          <p:nvPr>
            <p:ph type="sldNum" sz="quarter" idx="12"/>
          </p:nvPr>
        </p:nvSpPr>
        <p:spPr>
          <a:ln/>
        </p:spPr>
        <p:txBody>
          <a:bodyPr/>
          <a:lstStyle>
            <a:lvl1pPr>
              <a:defRPr/>
            </a:lvl1pPr>
          </a:lstStyle>
          <a:p>
            <a:pPr>
              <a:defRPr/>
            </a:pPr>
            <a:fld id="{98101DEC-5E1D-4A1B-8686-A64C6C501D9D}" type="slidenum">
              <a:rPr lang="en-US"/>
              <a:pPr>
                <a:defRPr/>
              </a:pPr>
              <a:t>‹#›</a:t>
            </a:fld>
            <a:endParaRPr lang="en-US" dirty="0"/>
          </a:p>
        </p:txBody>
      </p:sp>
    </p:spTree>
    <p:extLst>
      <p:ext uri="{BB962C8B-B14F-4D97-AF65-F5344CB8AC3E}">
        <p14:creationId xmlns:p14="http://schemas.microsoft.com/office/powerpoint/2010/main" val="525721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68F0FB3-C252-4D7E-865C-792FD36ABD1D}" type="datetime1">
              <a:rPr lang="en-US" smtClean="0"/>
              <a:pPr>
                <a:defRPr/>
              </a:pPr>
              <a:t>06/16/2020</a:t>
            </a:fld>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4" name="Rectangle 6"/>
          <p:cNvSpPr>
            <a:spLocks noGrp="1" noChangeArrowheads="1"/>
          </p:cNvSpPr>
          <p:nvPr>
            <p:ph type="sldNum" sz="quarter" idx="12"/>
          </p:nvPr>
        </p:nvSpPr>
        <p:spPr>
          <a:ln/>
        </p:spPr>
        <p:txBody>
          <a:bodyPr/>
          <a:lstStyle>
            <a:lvl1pPr>
              <a:defRPr/>
            </a:lvl1pPr>
          </a:lstStyle>
          <a:p>
            <a:pPr>
              <a:defRPr/>
            </a:pPr>
            <a:fld id="{9C8C8859-75EE-4198-BB37-405C35A5E029}" type="slidenum">
              <a:rPr lang="en-US"/>
              <a:pPr>
                <a:defRPr/>
              </a:pPr>
              <a:t>‹#›</a:t>
            </a:fld>
            <a:endParaRPr lang="en-US" dirty="0"/>
          </a:p>
        </p:txBody>
      </p:sp>
    </p:spTree>
    <p:extLst>
      <p:ext uri="{BB962C8B-B14F-4D97-AF65-F5344CB8AC3E}">
        <p14:creationId xmlns:p14="http://schemas.microsoft.com/office/powerpoint/2010/main" val="29656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D6B08E2A-33EC-49E8-A529-8EA6CB142EA4}" type="datetime1">
              <a:rPr lang="en-US" smtClean="0"/>
              <a:pPr>
                <a:defRPr/>
              </a:pPr>
              <a:t>06/16/2020</a:t>
            </a:fld>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7" name="Rectangle 6"/>
          <p:cNvSpPr>
            <a:spLocks noGrp="1" noChangeArrowheads="1"/>
          </p:cNvSpPr>
          <p:nvPr>
            <p:ph type="sldNum" sz="quarter" idx="12"/>
          </p:nvPr>
        </p:nvSpPr>
        <p:spPr>
          <a:ln/>
        </p:spPr>
        <p:txBody>
          <a:bodyPr/>
          <a:lstStyle>
            <a:lvl1pPr>
              <a:defRPr/>
            </a:lvl1pPr>
          </a:lstStyle>
          <a:p>
            <a:pPr>
              <a:defRPr/>
            </a:pPr>
            <a:fld id="{6B81A82F-FDFF-43D6-B82E-8CD2BB03CF6D}" type="slidenum">
              <a:rPr lang="en-US"/>
              <a:pPr>
                <a:defRPr/>
              </a:pPr>
              <a:t>‹#›</a:t>
            </a:fld>
            <a:endParaRPr lang="en-US" dirty="0"/>
          </a:p>
        </p:txBody>
      </p:sp>
    </p:spTree>
    <p:extLst>
      <p:ext uri="{BB962C8B-B14F-4D97-AF65-F5344CB8AC3E}">
        <p14:creationId xmlns:p14="http://schemas.microsoft.com/office/powerpoint/2010/main" val="2197314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046A83A-504C-409D-982C-10E71DAC5553}" type="datetime1">
              <a:rPr lang="en-US" smtClean="0"/>
              <a:pPr>
                <a:defRPr/>
              </a:pPr>
              <a:t>06/16/2020</a:t>
            </a:fld>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7" name="Rectangle 6"/>
          <p:cNvSpPr>
            <a:spLocks noGrp="1" noChangeArrowheads="1"/>
          </p:cNvSpPr>
          <p:nvPr>
            <p:ph type="sldNum" sz="quarter" idx="12"/>
          </p:nvPr>
        </p:nvSpPr>
        <p:spPr>
          <a:ln/>
        </p:spPr>
        <p:txBody>
          <a:bodyPr/>
          <a:lstStyle>
            <a:lvl1pPr>
              <a:defRPr/>
            </a:lvl1pPr>
          </a:lstStyle>
          <a:p>
            <a:pPr>
              <a:defRPr/>
            </a:pPr>
            <a:fld id="{0AEF41D1-0ACD-4226-8BB0-F0D7B87749BF}" type="slidenum">
              <a:rPr lang="en-US"/>
              <a:pPr>
                <a:defRPr/>
              </a:pPr>
              <a:t>‹#›</a:t>
            </a:fld>
            <a:endParaRPr lang="en-US" dirty="0"/>
          </a:p>
        </p:txBody>
      </p:sp>
    </p:spTree>
    <p:extLst>
      <p:ext uri="{BB962C8B-B14F-4D97-AF65-F5344CB8AC3E}">
        <p14:creationId xmlns:p14="http://schemas.microsoft.com/office/powerpoint/2010/main" val="1725752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BB9F5C78-D29F-4056-857B-C5BEB73CCA00}" type="datetime1">
              <a:rPr lang="en-US" smtClean="0"/>
              <a:pPr>
                <a:defRPr/>
              </a:pPr>
              <a:t>06/16/2020</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6" name="Rectangle 6"/>
          <p:cNvSpPr>
            <a:spLocks noGrp="1" noChangeArrowheads="1"/>
          </p:cNvSpPr>
          <p:nvPr>
            <p:ph type="sldNum" sz="quarter" idx="12"/>
          </p:nvPr>
        </p:nvSpPr>
        <p:spPr>
          <a:ln/>
        </p:spPr>
        <p:txBody>
          <a:bodyPr/>
          <a:lstStyle>
            <a:lvl1pPr>
              <a:defRPr/>
            </a:lvl1pPr>
          </a:lstStyle>
          <a:p>
            <a:pPr>
              <a:defRPr/>
            </a:pPr>
            <a:fld id="{73BC4E6C-3AAD-425E-A27C-2276F7A1E834}" type="slidenum">
              <a:rPr lang="en-US"/>
              <a:pPr>
                <a:defRPr/>
              </a:pPr>
              <a:t>‹#›</a:t>
            </a:fld>
            <a:endParaRPr lang="en-US" dirty="0"/>
          </a:p>
        </p:txBody>
      </p:sp>
    </p:spTree>
    <p:extLst>
      <p:ext uri="{BB962C8B-B14F-4D97-AF65-F5344CB8AC3E}">
        <p14:creationId xmlns:p14="http://schemas.microsoft.com/office/powerpoint/2010/main" val="2923911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90500"/>
            <a:ext cx="1752600" cy="5829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190500"/>
            <a:ext cx="5105400" cy="582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65C039FA-DBE4-4023-A876-017DCA4DA998}" type="datetime1">
              <a:rPr lang="en-US" smtClean="0"/>
              <a:pPr>
                <a:defRPr/>
              </a:pPr>
              <a:t>06/16/2020</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DRAFT</a:t>
            </a:r>
          </a:p>
        </p:txBody>
      </p:sp>
      <p:sp>
        <p:nvSpPr>
          <p:cNvPr id="6" name="Rectangle 6"/>
          <p:cNvSpPr>
            <a:spLocks noGrp="1" noChangeArrowheads="1"/>
          </p:cNvSpPr>
          <p:nvPr>
            <p:ph type="sldNum" sz="quarter" idx="12"/>
          </p:nvPr>
        </p:nvSpPr>
        <p:spPr>
          <a:ln/>
        </p:spPr>
        <p:txBody>
          <a:bodyPr/>
          <a:lstStyle>
            <a:lvl1pPr>
              <a:defRPr/>
            </a:lvl1pPr>
          </a:lstStyle>
          <a:p>
            <a:pPr>
              <a:defRPr/>
            </a:pPr>
            <a:fld id="{AD664756-7580-4A8C-96FE-34A85F4861E4}" type="slidenum">
              <a:rPr lang="en-US"/>
              <a:pPr>
                <a:defRPr/>
              </a:pPr>
              <a:t>‹#›</a:t>
            </a:fld>
            <a:endParaRPr lang="en-US" dirty="0"/>
          </a:p>
        </p:txBody>
      </p:sp>
    </p:spTree>
    <p:extLst>
      <p:ext uri="{BB962C8B-B14F-4D97-AF65-F5344CB8AC3E}">
        <p14:creationId xmlns:p14="http://schemas.microsoft.com/office/powerpoint/2010/main" val="1147143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54856316-CAE9-4343-987F-6829BEC47D1A}" type="datetime1">
              <a:rPr lang="en-US" smtClean="0"/>
              <a:pPr>
                <a:defRPr/>
              </a:pPr>
              <a:t>06/16/2020</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DRAFT</a:t>
            </a:r>
          </a:p>
        </p:txBody>
      </p:sp>
      <p:sp>
        <p:nvSpPr>
          <p:cNvPr id="6" name="Slide Number Placeholder 5"/>
          <p:cNvSpPr>
            <a:spLocks noGrp="1"/>
          </p:cNvSpPr>
          <p:nvPr>
            <p:ph type="sldNum" sz="quarter" idx="12"/>
          </p:nvPr>
        </p:nvSpPr>
        <p:spPr/>
        <p:txBody>
          <a:bodyPr/>
          <a:lstStyle>
            <a:lvl1pPr>
              <a:defRPr/>
            </a:lvl1pPr>
          </a:lstStyle>
          <a:p>
            <a:pPr>
              <a:defRPr/>
            </a:pPr>
            <a:fld id="{089AB66A-3304-4355-B3FB-E193802BBB18}" type="slidenum">
              <a:rPr lang="en-US"/>
              <a:pPr>
                <a:defRPr/>
              </a:pPr>
              <a:t>‹#›</a:t>
            </a:fld>
            <a:endParaRPr lang="en-US" dirty="0"/>
          </a:p>
        </p:txBody>
      </p:sp>
    </p:spTree>
    <p:extLst>
      <p:ext uri="{BB962C8B-B14F-4D97-AF65-F5344CB8AC3E}">
        <p14:creationId xmlns:p14="http://schemas.microsoft.com/office/powerpoint/2010/main" val="896195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5312E19-091D-4392-8950-8738F78E0999}" type="datetime1">
              <a:rPr lang="en-US" smtClean="0"/>
              <a:pPr>
                <a:defRPr/>
              </a:pPr>
              <a:t>06/16/2020</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DRAFT</a:t>
            </a:r>
          </a:p>
        </p:txBody>
      </p:sp>
      <p:sp>
        <p:nvSpPr>
          <p:cNvPr id="6" name="Slide Number Placeholder 5"/>
          <p:cNvSpPr>
            <a:spLocks noGrp="1"/>
          </p:cNvSpPr>
          <p:nvPr>
            <p:ph type="sldNum" sz="quarter" idx="12"/>
          </p:nvPr>
        </p:nvSpPr>
        <p:spPr/>
        <p:txBody>
          <a:bodyPr/>
          <a:lstStyle>
            <a:lvl1pPr>
              <a:defRPr/>
            </a:lvl1pPr>
          </a:lstStyle>
          <a:p>
            <a:pPr>
              <a:defRPr/>
            </a:pPr>
            <a:fld id="{7AF27EA1-9093-46FD-9A84-DC49DA966443}" type="slidenum">
              <a:rPr lang="en-US"/>
              <a:pPr>
                <a:defRPr/>
              </a:pPr>
              <a:t>‹#›</a:t>
            </a:fld>
            <a:endParaRPr lang="en-US" dirty="0"/>
          </a:p>
        </p:txBody>
      </p:sp>
    </p:spTree>
    <p:extLst>
      <p:ext uri="{BB962C8B-B14F-4D97-AF65-F5344CB8AC3E}">
        <p14:creationId xmlns:p14="http://schemas.microsoft.com/office/powerpoint/2010/main" val="1390886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F301FCE-95F4-4B61-B7F3-DCB1D088262B}" type="datetime1">
              <a:rPr lang="en-US" smtClean="0"/>
              <a:pPr>
                <a:defRPr/>
              </a:pPr>
              <a:t>06/16/2020</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DRAFT</a:t>
            </a:r>
          </a:p>
        </p:txBody>
      </p:sp>
      <p:sp>
        <p:nvSpPr>
          <p:cNvPr id="6" name="Slide Number Placeholder 5"/>
          <p:cNvSpPr>
            <a:spLocks noGrp="1"/>
          </p:cNvSpPr>
          <p:nvPr>
            <p:ph type="sldNum" sz="quarter" idx="12"/>
          </p:nvPr>
        </p:nvSpPr>
        <p:spPr/>
        <p:txBody>
          <a:bodyPr/>
          <a:lstStyle>
            <a:lvl1pPr>
              <a:defRPr/>
            </a:lvl1pPr>
          </a:lstStyle>
          <a:p>
            <a:pPr>
              <a:defRPr/>
            </a:pPr>
            <a:fld id="{6713A70C-B9C9-41FE-95EC-F8CFFC2C8B4C}" type="slidenum">
              <a:rPr lang="en-US"/>
              <a:pPr>
                <a:defRPr/>
              </a:pPr>
              <a:t>‹#›</a:t>
            </a:fld>
            <a:endParaRPr lang="en-US" dirty="0"/>
          </a:p>
        </p:txBody>
      </p:sp>
    </p:spTree>
    <p:extLst>
      <p:ext uri="{BB962C8B-B14F-4D97-AF65-F5344CB8AC3E}">
        <p14:creationId xmlns:p14="http://schemas.microsoft.com/office/powerpoint/2010/main" val="41880996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4764DD9-442D-4E9C-993A-2B93678A3DD3}" type="datetime1">
              <a:rPr lang="en-US" smtClean="0"/>
              <a:pPr>
                <a:defRPr/>
              </a:pPr>
              <a:t>06/16/2020</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DRAFT</a:t>
            </a:r>
          </a:p>
        </p:txBody>
      </p:sp>
      <p:sp>
        <p:nvSpPr>
          <p:cNvPr id="7" name="Slide Number Placeholder 5"/>
          <p:cNvSpPr>
            <a:spLocks noGrp="1"/>
          </p:cNvSpPr>
          <p:nvPr>
            <p:ph type="sldNum" sz="quarter" idx="12"/>
          </p:nvPr>
        </p:nvSpPr>
        <p:spPr/>
        <p:txBody>
          <a:bodyPr/>
          <a:lstStyle>
            <a:lvl1pPr>
              <a:defRPr/>
            </a:lvl1pPr>
          </a:lstStyle>
          <a:p>
            <a:pPr>
              <a:defRPr/>
            </a:pPr>
            <a:fld id="{9D04F36C-776C-4661-B41D-9C42004E9176}" type="slidenum">
              <a:rPr lang="en-US"/>
              <a:pPr>
                <a:defRPr/>
              </a:pPr>
              <a:t>‹#›</a:t>
            </a:fld>
            <a:endParaRPr lang="en-US" dirty="0"/>
          </a:p>
        </p:txBody>
      </p:sp>
    </p:spTree>
    <p:extLst>
      <p:ext uri="{BB962C8B-B14F-4D97-AF65-F5344CB8AC3E}">
        <p14:creationId xmlns:p14="http://schemas.microsoft.com/office/powerpoint/2010/main" val="2442254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256A5EF-941B-4B06-A4A0-BB45B0C7729A}" type="datetime1">
              <a:rPr lang="en-US" smtClean="0"/>
              <a:pPr>
                <a:defRPr/>
              </a:pPr>
              <a:t>06/16/2020</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DRAFT</a:t>
            </a:r>
          </a:p>
        </p:txBody>
      </p:sp>
      <p:sp>
        <p:nvSpPr>
          <p:cNvPr id="9" name="Slide Number Placeholder 5"/>
          <p:cNvSpPr>
            <a:spLocks noGrp="1"/>
          </p:cNvSpPr>
          <p:nvPr>
            <p:ph type="sldNum" sz="quarter" idx="12"/>
          </p:nvPr>
        </p:nvSpPr>
        <p:spPr/>
        <p:txBody>
          <a:bodyPr/>
          <a:lstStyle>
            <a:lvl1pPr>
              <a:defRPr/>
            </a:lvl1pPr>
          </a:lstStyle>
          <a:p>
            <a:pPr>
              <a:defRPr/>
            </a:pPr>
            <a:fld id="{DA59C4B9-31A4-48C5-B13C-75FF8CCDFD5F}" type="slidenum">
              <a:rPr lang="en-US"/>
              <a:pPr>
                <a:defRPr/>
              </a:pPr>
              <a:t>‹#›</a:t>
            </a:fld>
            <a:endParaRPr lang="en-US" dirty="0"/>
          </a:p>
        </p:txBody>
      </p:sp>
    </p:spTree>
    <p:extLst>
      <p:ext uri="{BB962C8B-B14F-4D97-AF65-F5344CB8AC3E}">
        <p14:creationId xmlns:p14="http://schemas.microsoft.com/office/powerpoint/2010/main" val="37176861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F43BFCF-6F01-499B-B57B-9E399E56204C}" type="datetime1">
              <a:rPr lang="en-US" smtClean="0"/>
              <a:pPr>
                <a:defRPr/>
              </a:pPr>
              <a:t>06/16/2020</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DRAFT</a:t>
            </a:r>
          </a:p>
        </p:txBody>
      </p:sp>
      <p:sp>
        <p:nvSpPr>
          <p:cNvPr id="5" name="Slide Number Placeholder 5"/>
          <p:cNvSpPr>
            <a:spLocks noGrp="1"/>
          </p:cNvSpPr>
          <p:nvPr>
            <p:ph type="sldNum" sz="quarter" idx="12"/>
          </p:nvPr>
        </p:nvSpPr>
        <p:spPr/>
        <p:txBody>
          <a:bodyPr/>
          <a:lstStyle>
            <a:lvl1pPr>
              <a:defRPr/>
            </a:lvl1pPr>
          </a:lstStyle>
          <a:p>
            <a:pPr>
              <a:defRPr/>
            </a:pPr>
            <a:fld id="{C8A06D15-2FAF-42E9-98A7-26E35BFB8FA7}" type="slidenum">
              <a:rPr lang="en-US"/>
              <a:pPr>
                <a:defRPr/>
              </a:pPr>
              <a:t>‹#›</a:t>
            </a:fld>
            <a:endParaRPr lang="en-US" dirty="0"/>
          </a:p>
        </p:txBody>
      </p:sp>
    </p:spTree>
    <p:extLst>
      <p:ext uri="{BB962C8B-B14F-4D97-AF65-F5344CB8AC3E}">
        <p14:creationId xmlns:p14="http://schemas.microsoft.com/office/powerpoint/2010/main" val="3625533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D3A5229-B0D9-4655-89D2-AD33C4312818}" type="datetime1">
              <a:rPr lang="en-US" smtClean="0"/>
              <a:pPr>
                <a:defRPr/>
              </a:pPr>
              <a:t>06/16/2020</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DRAFT</a:t>
            </a:r>
          </a:p>
        </p:txBody>
      </p:sp>
      <p:sp>
        <p:nvSpPr>
          <p:cNvPr id="4" name="Slide Number Placeholder 5"/>
          <p:cNvSpPr>
            <a:spLocks noGrp="1"/>
          </p:cNvSpPr>
          <p:nvPr>
            <p:ph type="sldNum" sz="quarter" idx="12"/>
          </p:nvPr>
        </p:nvSpPr>
        <p:spPr/>
        <p:txBody>
          <a:bodyPr/>
          <a:lstStyle>
            <a:lvl1pPr>
              <a:defRPr/>
            </a:lvl1pPr>
          </a:lstStyle>
          <a:p>
            <a:pPr>
              <a:defRPr/>
            </a:pPr>
            <a:fld id="{DCAB02C7-8027-4AF1-897F-21C1D5761C4E}" type="slidenum">
              <a:rPr lang="en-US"/>
              <a:pPr>
                <a:defRPr/>
              </a:pPr>
              <a:t>‹#›</a:t>
            </a:fld>
            <a:endParaRPr lang="en-US" dirty="0"/>
          </a:p>
        </p:txBody>
      </p:sp>
    </p:spTree>
    <p:extLst>
      <p:ext uri="{BB962C8B-B14F-4D97-AF65-F5344CB8AC3E}">
        <p14:creationId xmlns:p14="http://schemas.microsoft.com/office/powerpoint/2010/main" val="1394301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13CF1D5-83B0-4F43-BB57-16B397258589}" type="datetime1">
              <a:rPr lang="en-US" smtClean="0"/>
              <a:pPr>
                <a:defRPr/>
              </a:pPr>
              <a:t>06/16/2020</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DRAFT</a:t>
            </a:r>
          </a:p>
        </p:txBody>
      </p:sp>
      <p:sp>
        <p:nvSpPr>
          <p:cNvPr id="7" name="Slide Number Placeholder 5"/>
          <p:cNvSpPr>
            <a:spLocks noGrp="1"/>
          </p:cNvSpPr>
          <p:nvPr>
            <p:ph type="sldNum" sz="quarter" idx="12"/>
          </p:nvPr>
        </p:nvSpPr>
        <p:spPr/>
        <p:txBody>
          <a:bodyPr/>
          <a:lstStyle>
            <a:lvl1pPr>
              <a:defRPr/>
            </a:lvl1pPr>
          </a:lstStyle>
          <a:p>
            <a:pPr>
              <a:defRPr/>
            </a:pPr>
            <a:fld id="{FA21C657-DCB5-4319-BCEC-5A79458390C8}" type="slidenum">
              <a:rPr lang="en-US"/>
              <a:pPr>
                <a:defRPr/>
              </a:pPr>
              <a:t>‹#›</a:t>
            </a:fld>
            <a:endParaRPr lang="en-US" dirty="0"/>
          </a:p>
        </p:txBody>
      </p:sp>
    </p:spTree>
    <p:extLst>
      <p:ext uri="{BB962C8B-B14F-4D97-AF65-F5344CB8AC3E}">
        <p14:creationId xmlns:p14="http://schemas.microsoft.com/office/powerpoint/2010/main" val="34787505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7FBD4FB-2FC5-4118-9843-76FC7DCF2632}" type="datetime1">
              <a:rPr lang="en-US" smtClean="0"/>
              <a:pPr>
                <a:defRPr/>
              </a:pPr>
              <a:t>06/16/2020</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DRAFT</a:t>
            </a:r>
          </a:p>
        </p:txBody>
      </p:sp>
      <p:sp>
        <p:nvSpPr>
          <p:cNvPr id="7" name="Slide Number Placeholder 5"/>
          <p:cNvSpPr>
            <a:spLocks noGrp="1"/>
          </p:cNvSpPr>
          <p:nvPr>
            <p:ph type="sldNum" sz="quarter" idx="12"/>
          </p:nvPr>
        </p:nvSpPr>
        <p:spPr/>
        <p:txBody>
          <a:bodyPr/>
          <a:lstStyle>
            <a:lvl1pPr>
              <a:defRPr/>
            </a:lvl1pPr>
          </a:lstStyle>
          <a:p>
            <a:pPr>
              <a:defRPr/>
            </a:pPr>
            <a:fld id="{01FA2035-F806-4E53-8E04-4B0DC4F2C021}" type="slidenum">
              <a:rPr lang="en-US"/>
              <a:pPr>
                <a:defRPr/>
              </a:pPr>
              <a:t>‹#›</a:t>
            </a:fld>
            <a:endParaRPr lang="en-US" dirty="0"/>
          </a:p>
        </p:txBody>
      </p:sp>
    </p:spTree>
    <p:extLst>
      <p:ext uri="{BB962C8B-B14F-4D97-AF65-F5344CB8AC3E}">
        <p14:creationId xmlns:p14="http://schemas.microsoft.com/office/powerpoint/2010/main" val="3634285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8630980-BF20-4B9D-B6F5-EDBB7A8AA45C}" type="datetime1">
              <a:rPr lang="en-US" smtClean="0"/>
              <a:pPr>
                <a:defRPr/>
              </a:pPr>
              <a:t>06/16/2020</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DRAFT</a:t>
            </a:r>
          </a:p>
        </p:txBody>
      </p:sp>
      <p:sp>
        <p:nvSpPr>
          <p:cNvPr id="6" name="Slide Number Placeholder 5"/>
          <p:cNvSpPr>
            <a:spLocks noGrp="1"/>
          </p:cNvSpPr>
          <p:nvPr>
            <p:ph type="sldNum" sz="quarter" idx="12"/>
          </p:nvPr>
        </p:nvSpPr>
        <p:spPr/>
        <p:txBody>
          <a:bodyPr/>
          <a:lstStyle>
            <a:lvl1pPr>
              <a:defRPr/>
            </a:lvl1pPr>
          </a:lstStyle>
          <a:p>
            <a:pPr>
              <a:defRPr/>
            </a:pPr>
            <a:fld id="{F6A70658-FB23-42DA-92A2-D00E80426093}" type="slidenum">
              <a:rPr lang="en-US"/>
              <a:pPr>
                <a:defRPr/>
              </a:pPr>
              <a:t>‹#›</a:t>
            </a:fld>
            <a:endParaRPr lang="en-US" dirty="0"/>
          </a:p>
        </p:txBody>
      </p:sp>
    </p:spTree>
    <p:extLst>
      <p:ext uri="{BB962C8B-B14F-4D97-AF65-F5344CB8AC3E}">
        <p14:creationId xmlns:p14="http://schemas.microsoft.com/office/powerpoint/2010/main" val="1206578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F1D0309-253B-42B1-BD3B-F2E83614A688}" type="datetime1">
              <a:rPr lang="en-US" smtClean="0"/>
              <a:pPr>
                <a:defRPr/>
              </a:pPr>
              <a:t>06/16/2020</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DRAFT</a:t>
            </a:r>
          </a:p>
        </p:txBody>
      </p:sp>
      <p:sp>
        <p:nvSpPr>
          <p:cNvPr id="6" name="Slide Number Placeholder 5"/>
          <p:cNvSpPr>
            <a:spLocks noGrp="1"/>
          </p:cNvSpPr>
          <p:nvPr>
            <p:ph type="sldNum" sz="quarter" idx="12"/>
          </p:nvPr>
        </p:nvSpPr>
        <p:spPr/>
        <p:txBody>
          <a:bodyPr/>
          <a:lstStyle>
            <a:lvl1pPr>
              <a:defRPr/>
            </a:lvl1pPr>
          </a:lstStyle>
          <a:p>
            <a:pPr>
              <a:defRPr/>
            </a:pPr>
            <a:fld id="{382A8E13-DC61-4C0B-8DA1-7CDABBAEE398}" type="slidenum">
              <a:rPr lang="en-US"/>
              <a:pPr>
                <a:defRPr/>
              </a:pPr>
              <a:t>‹#›</a:t>
            </a:fld>
            <a:endParaRPr lang="en-US" dirty="0"/>
          </a:p>
        </p:txBody>
      </p:sp>
    </p:spTree>
    <p:extLst>
      <p:ext uri="{BB962C8B-B14F-4D97-AF65-F5344CB8AC3E}">
        <p14:creationId xmlns:p14="http://schemas.microsoft.com/office/powerpoint/2010/main" val="3303630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1">
                <a:solidFill>
                  <a:schemeClr val="tx2">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0DB0CB94-CAA2-4AFA-8145-DC761858B550}" type="datetime1">
              <a:rPr lang="en-US" smtClean="0"/>
              <a:pPr>
                <a:defRPr/>
              </a:pPr>
              <a:t>06/16/2020</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DRAFT</a:t>
            </a:r>
          </a:p>
        </p:txBody>
      </p:sp>
      <p:sp>
        <p:nvSpPr>
          <p:cNvPr id="6"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5947ED15-1E1E-4565-9F2D-5A0EC1633E7D}" type="slidenum">
              <a:rPr lang="en-US" smtClean="0"/>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lvl1pPr>
              <a:defRPr b="1">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DB56CA7-9D26-4D68-94B8-AA9A57557905}" type="datetime1">
              <a:rPr lang="en-US" smtClean="0"/>
              <a:pPr>
                <a:defRPr/>
              </a:pPr>
              <a:t>06/16/2020</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DRAFT</a:t>
            </a:r>
          </a:p>
        </p:txBody>
      </p:sp>
      <p:sp>
        <p:nvSpPr>
          <p:cNvPr id="7"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920BCC9A-C72B-4004-AD74-D0F250D747EF}" type="slidenum">
              <a:rPr lang="en-US" smtClean="0"/>
              <a:pPr>
                <a:defRPr/>
              </a:pPr>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3E096DD-8304-48E7-BD94-9FEC87C5C6C7}" type="datetime1">
              <a:rPr lang="en-US" smtClean="0"/>
              <a:pPr>
                <a:defRPr/>
              </a:pPr>
              <a:t>06/16/2020</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DRAFT</a:t>
            </a:r>
          </a:p>
        </p:txBody>
      </p:sp>
      <p:sp>
        <p:nvSpPr>
          <p:cNvPr id="8"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FB13A793-BFDC-4811-AC6D-0B2C312E4356}" type="slidenum">
              <a:rPr lang="en-US" smtClean="0"/>
              <a:pPr>
                <a:defRPr/>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lvl1pPr>
              <a:defRPr b="1">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66134843-0180-4913-8406-98CF2C369038}" type="datetime1">
              <a:rPr lang="en-US" smtClean="0"/>
              <a:pPr>
                <a:defRPr/>
              </a:pPr>
              <a:t>06/16/2020</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DRAFT</a:t>
            </a:r>
          </a:p>
        </p:txBody>
      </p:sp>
      <p:sp>
        <p:nvSpPr>
          <p:cNvPr id="8"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913C6C7B-2EB7-44EE-8FB3-5F371C3FB9BD}" type="slidenum">
              <a:rPr lang="en-US" smtClean="0"/>
              <a:pPr>
                <a:defRPr/>
              </a:pPr>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lvl1pPr>
              <a:defRPr b="1">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A80DDBF3-D9EB-4D23-A22A-C8C76C0AB481}" type="datetime1">
              <a:rPr lang="en-US" smtClean="0"/>
              <a:pPr>
                <a:defRPr/>
              </a:pPr>
              <a:t>06/16/2020</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DRAFT</a:t>
            </a:r>
          </a:p>
        </p:txBody>
      </p:sp>
      <p:sp>
        <p:nvSpPr>
          <p:cNvPr id="10"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112ED9CC-486F-4C20-806C-4E3752A2C752}" type="slidenum">
              <a:rPr lang="en-US" smtClean="0"/>
              <a:pPr>
                <a:defRPr/>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tx2">
                    <a:lumMod val="75000"/>
                  </a:schemeClr>
                </a:solidFill>
              </a:defRPr>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5C4415C-0194-4933-814F-8A2954468817}" type="datetime1">
              <a:rPr lang="en-US" smtClean="0"/>
              <a:pPr>
                <a:defRPr/>
              </a:pPr>
              <a:t>06/16/2020</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DRAFT</a:t>
            </a:r>
          </a:p>
        </p:txBody>
      </p:sp>
      <p:sp>
        <p:nvSpPr>
          <p:cNvPr id="6"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7A83E43D-2B4C-4447-BA10-945615650474}" type="slidenum">
              <a:rPr lang="en-US" smtClean="0"/>
              <a:pPr>
                <a:defRPr/>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099B-3824-4F8E-9663-AF2AD575E2A6}" type="datetime1">
              <a:rPr lang="en-US" smtClean="0"/>
              <a:pPr>
                <a:defRPr/>
              </a:pPr>
              <a:t>06/16/2020</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DRAFT</a:t>
            </a:r>
          </a:p>
        </p:txBody>
      </p:sp>
      <p:sp>
        <p:nvSpPr>
          <p:cNvPr id="5"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0B8B8BE3-D459-47DE-B658-76F890EE4EA5}" type="slidenum">
              <a:rPr lang="en-US" smtClean="0"/>
              <a:pPr>
                <a:defRPr/>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3008313" cy="116205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1219200"/>
            <a:ext cx="5111750" cy="4906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514600"/>
            <a:ext cx="3008313" cy="36115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D3DB0AF-85D4-4755-8942-FF1E53304177}" type="datetime1">
              <a:rPr lang="en-US" smtClean="0"/>
              <a:pPr>
                <a:defRPr/>
              </a:pPr>
              <a:t>06/16/2020</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DRAFT</a:t>
            </a:r>
          </a:p>
        </p:txBody>
      </p:sp>
      <p:sp>
        <p:nvSpPr>
          <p:cNvPr id="8"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5632EB19-7E3A-4F90-B8D8-9B835BD3ACC2}" type="slidenum">
              <a:rPr lang="en-US" smtClean="0"/>
              <a:pPr>
                <a:defRPr/>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1447799"/>
            <a:ext cx="5486400" cy="327977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3B1738B-CC16-4FF3-8A93-ADEEC544C94B}" type="datetime1">
              <a:rPr lang="en-US" smtClean="0"/>
              <a:pPr>
                <a:defRPr/>
              </a:pPr>
              <a:t>06/16/2020</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DRAFT</a:t>
            </a:r>
          </a:p>
        </p:txBody>
      </p:sp>
      <p:sp>
        <p:nvSpPr>
          <p:cNvPr id="9"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006508A2-1735-4392-A695-9CF0D869B7E9}" type="slidenum">
              <a:rPr lang="en-US" smtClean="0"/>
              <a:pPr>
                <a:defRPr/>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lvl1pPr>
              <a:defRPr b="1">
                <a:solidFill>
                  <a:schemeClr val="tx2">
                    <a:lumMod val="75000"/>
                  </a:schemeClr>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02FE441-B1DC-4227-A958-75813362EEB7}" type="datetime1">
              <a:rPr lang="en-US" smtClean="0"/>
              <a:pPr>
                <a:defRPr/>
              </a:pPr>
              <a:t>06/16/2020</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DRAFT</a:t>
            </a:r>
          </a:p>
        </p:txBody>
      </p:sp>
      <p:sp>
        <p:nvSpPr>
          <p:cNvPr id="7" name="Slide Number Placeholder 5"/>
          <p:cNvSpPr>
            <a:spLocks noGrp="1"/>
          </p:cNvSpPr>
          <p:nvPr>
            <p:ph type="sldNum" sz="quarter" idx="12"/>
          </p:nvPr>
        </p:nvSpPr>
        <p:spPr>
          <a:xfrm>
            <a:off x="6858000" y="5943600"/>
            <a:ext cx="2133600" cy="365125"/>
          </a:xfrm>
        </p:spPr>
        <p:txBody>
          <a:bodyPr/>
          <a:lstStyle>
            <a:lvl1pPr>
              <a:defRPr>
                <a:solidFill>
                  <a:schemeClr val="tx1"/>
                </a:solidFill>
              </a:defRPr>
            </a:lvl1pPr>
          </a:lstStyle>
          <a:p>
            <a:pPr>
              <a:defRPr/>
            </a:pPr>
            <a:fld id="{548F1FEA-1F7F-4F65-AE42-E6886250C173}"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2.jpe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image" Target="../media/image1.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theme" Target="../theme/theme3.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24000" y="190500"/>
            <a:ext cx="7010400"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1524000" y="1905000"/>
            <a:ext cx="7010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p:txBody>
      </p:sp>
      <p:sp>
        <p:nvSpPr>
          <p:cNvPr id="32772" name="Rectangle 4"/>
          <p:cNvSpPr>
            <a:spLocks noGrp="1" noChangeArrowheads="1"/>
          </p:cNvSpPr>
          <p:nvPr>
            <p:ph type="dt" sz="half" idx="2"/>
          </p:nvPr>
        </p:nvSpPr>
        <p:spPr bwMode="auto">
          <a:xfrm>
            <a:off x="66294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000" smtClean="0">
                <a:latin typeface="+mn-lt"/>
                <a:cs typeface="+mn-cs"/>
              </a:defRPr>
            </a:lvl1pPr>
          </a:lstStyle>
          <a:p>
            <a:pPr>
              <a:defRPr/>
            </a:pPr>
            <a:fld id="{60BB8745-2A0C-4E79-9E45-26A26759955F}" type="datetime1">
              <a:rPr lang="en-US" smtClean="0"/>
              <a:pPr>
                <a:defRPr/>
              </a:pPr>
              <a:t>06/16/2020</a:t>
            </a:fld>
            <a:endParaRPr lang="en-US" dirty="0"/>
          </a:p>
        </p:txBody>
      </p:sp>
      <p:sp>
        <p:nvSpPr>
          <p:cNvPr id="32773" name="Rectangle 5"/>
          <p:cNvSpPr>
            <a:spLocks noGrp="1" noChangeArrowheads="1"/>
          </p:cNvSpPr>
          <p:nvPr>
            <p:ph type="ftr" sz="quarter" idx="3"/>
          </p:nvPr>
        </p:nvSpPr>
        <p:spPr bwMode="auto">
          <a:xfrm>
            <a:off x="32766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fontAlgn="auto" hangingPunct="1">
              <a:spcBef>
                <a:spcPts val="0"/>
              </a:spcBef>
              <a:spcAft>
                <a:spcPts val="0"/>
              </a:spcAft>
              <a:defRPr sz="1000" smtClean="0">
                <a:latin typeface="+mn-lt"/>
                <a:cs typeface="+mn-cs"/>
              </a:defRPr>
            </a:lvl1pPr>
          </a:lstStyle>
          <a:p>
            <a:pPr>
              <a:defRPr/>
            </a:pPr>
            <a:r>
              <a:rPr lang="en-US" dirty="0"/>
              <a:t>DRAFT</a:t>
            </a:r>
          </a:p>
        </p:txBody>
      </p:sp>
      <p:sp>
        <p:nvSpPr>
          <p:cNvPr id="32774" name="Rectangle 6"/>
          <p:cNvSpPr>
            <a:spLocks noGrp="1" noChangeArrowheads="1"/>
          </p:cNvSpPr>
          <p:nvPr>
            <p:ph type="sldNum" sz="quarter" idx="4"/>
          </p:nvPr>
        </p:nvSpPr>
        <p:spPr bwMode="auto">
          <a:xfrm>
            <a:off x="1524000" y="6248400"/>
            <a:ext cx="1295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400">
                <a:latin typeface="+mn-lt"/>
                <a:cs typeface="+mn-cs"/>
              </a:defRPr>
            </a:lvl1pPr>
          </a:lstStyle>
          <a:p>
            <a:pPr>
              <a:defRPr/>
            </a:pPr>
            <a:fld id="{787FA557-2A83-4324-B42D-E4C706BE947E}" type="slidenum">
              <a:rPr lang="en-US"/>
              <a:pPr>
                <a:defRPr/>
              </a:pPr>
              <a:t>‹#›</a:t>
            </a:fld>
            <a:endParaRPr lang="en-US" dirty="0"/>
          </a:p>
        </p:txBody>
      </p:sp>
      <p:sp>
        <p:nvSpPr>
          <p:cNvPr id="32775" name="Line 7"/>
          <p:cNvSpPr>
            <a:spLocks noChangeShapeType="1"/>
          </p:cNvSpPr>
          <p:nvPr/>
        </p:nvSpPr>
        <p:spPr bwMode="auto">
          <a:xfrm flipV="1">
            <a:off x="1371600" y="304800"/>
            <a:ext cx="0" cy="1295400"/>
          </a:xfrm>
          <a:prstGeom prst="line">
            <a:avLst/>
          </a:prstGeom>
          <a:noFill/>
          <a:ln w="38100">
            <a:solidFill>
              <a:schemeClr val="tx2"/>
            </a:solidFill>
            <a:round/>
            <a:headEnd/>
            <a:tailEnd/>
          </a:ln>
          <a:effectLst/>
        </p:spPr>
        <p:txBody>
          <a:bodyPr/>
          <a:lstStyle/>
          <a:p>
            <a:pPr fontAlgn="auto">
              <a:spcBef>
                <a:spcPts val="0"/>
              </a:spcBef>
              <a:spcAft>
                <a:spcPts val="0"/>
              </a:spcAft>
              <a:defRPr/>
            </a:pPr>
            <a:endParaRPr lang="en-US" dirty="0">
              <a:latin typeface="+mn-lt"/>
              <a:cs typeface="+mn-cs"/>
            </a:endParaRPr>
          </a:p>
        </p:txBody>
      </p:sp>
      <p:sp>
        <p:nvSpPr>
          <p:cNvPr id="32776" name="Oval 8"/>
          <p:cNvSpPr>
            <a:spLocks noChangeArrowheads="1"/>
          </p:cNvSpPr>
          <p:nvPr/>
        </p:nvSpPr>
        <p:spPr bwMode="auto">
          <a:xfrm>
            <a:off x="152400" y="838200"/>
            <a:ext cx="228600" cy="228600"/>
          </a:xfrm>
          <a:prstGeom prst="ellipse">
            <a:avLst/>
          </a:prstGeom>
          <a:solidFill>
            <a:schemeClr val="tx1"/>
          </a:solidFill>
          <a:ln w="9525">
            <a:noFill/>
            <a:round/>
            <a:headEnd/>
            <a:tailEnd/>
          </a:ln>
          <a:effectLst/>
        </p:spPr>
        <p:txBody>
          <a:bodyPr wrap="none" anchor="ctr"/>
          <a:lstStyle/>
          <a:p>
            <a:pPr algn="ctr" fontAlgn="auto">
              <a:spcBef>
                <a:spcPts val="0"/>
              </a:spcBef>
              <a:spcAft>
                <a:spcPts val="0"/>
              </a:spcAft>
              <a:defRPr/>
            </a:pPr>
            <a:endParaRPr lang="en-US" dirty="0">
              <a:cs typeface="+mn-cs"/>
            </a:endParaRPr>
          </a:p>
        </p:txBody>
      </p:sp>
      <p:sp>
        <p:nvSpPr>
          <p:cNvPr id="32777" name="Oval 9"/>
          <p:cNvSpPr>
            <a:spLocks noChangeArrowheads="1"/>
          </p:cNvSpPr>
          <p:nvPr/>
        </p:nvSpPr>
        <p:spPr bwMode="auto">
          <a:xfrm>
            <a:off x="539750" y="838200"/>
            <a:ext cx="228600" cy="228600"/>
          </a:xfrm>
          <a:prstGeom prst="ellipse">
            <a:avLst/>
          </a:prstGeom>
          <a:solidFill>
            <a:schemeClr val="accent1"/>
          </a:solidFill>
          <a:ln w="9525">
            <a:noFill/>
            <a:round/>
            <a:headEnd/>
            <a:tailEnd/>
          </a:ln>
          <a:effectLst/>
        </p:spPr>
        <p:txBody>
          <a:bodyPr wrap="none" anchor="ctr"/>
          <a:lstStyle/>
          <a:p>
            <a:pPr algn="ctr" fontAlgn="auto">
              <a:spcBef>
                <a:spcPts val="0"/>
              </a:spcBef>
              <a:spcAft>
                <a:spcPts val="0"/>
              </a:spcAft>
              <a:defRPr/>
            </a:pPr>
            <a:endParaRPr lang="en-US" dirty="0">
              <a:cs typeface="+mn-cs"/>
            </a:endParaRPr>
          </a:p>
        </p:txBody>
      </p:sp>
      <p:sp>
        <p:nvSpPr>
          <p:cNvPr id="32778" name="Oval 10"/>
          <p:cNvSpPr>
            <a:spLocks noChangeArrowheads="1"/>
          </p:cNvSpPr>
          <p:nvPr/>
        </p:nvSpPr>
        <p:spPr bwMode="auto">
          <a:xfrm>
            <a:off x="927100" y="838200"/>
            <a:ext cx="228600" cy="228600"/>
          </a:xfrm>
          <a:prstGeom prst="ellipse">
            <a:avLst/>
          </a:prstGeom>
          <a:solidFill>
            <a:schemeClr val="accent2"/>
          </a:solidFill>
          <a:ln w="9525">
            <a:noFill/>
            <a:round/>
            <a:headEnd/>
            <a:tailEnd/>
          </a:ln>
          <a:effectLst/>
        </p:spPr>
        <p:txBody>
          <a:bodyPr wrap="none" anchor="ctr"/>
          <a:lstStyle/>
          <a:p>
            <a:pPr algn="ctr" fontAlgn="auto">
              <a:spcBef>
                <a:spcPts val="0"/>
              </a:spcBef>
              <a:spcAft>
                <a:spcPts val="0"/>
              </a:spcAft>
              <a:defRPr/>
            </a:pPr>
            <a:endParaRPr lang="en-US" dirty="0">
              <a:cs typeface="+mn-cs"/>
            </a:endParaRPr>
          </a:p>
        </p:txBody>
      </p:sp>
    </p:spTree>
  </p:cSld>
  <p:clrMap bg1="dk2" tx1="lt1" bg2="dk1" tx2="lt2" accent1="accent1" accent2="accent2" accent3="accent3" accent4="accent4" accent5="accent5" accent6="accent6" hlink="hlink" folHlink="folHlink"/>
  <p:sldLayoutIdLst>
    <p:sldLayoutId id="2147484043"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 id="2147484009" r:id="rId12"/>
  </p:sldLayoutIdLst>
  <p:hf hdr="0" ftr="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charset="0"/>
        </a:defRPr>
      </a:lvl2pPr>
      <a:lvl3pPr algn="l" rtl="0" eaLnBrk="0" fontAlgn="base" hangingPunct="0">
        <a:spcBef>
          <a:spcPct val="0"/>
        </a:spcBef>
        <a:spcAft>
          <a:spcPct val="0"/>
        </a:spcAft>
        <a:defRPr sz="4200">
          <a:solidFill>
            <a:schemeClr val="tx2"/>
          </a:solidFill>
          <a:latin typeface="Arial" charset="0"/>
        </a:defRPr>
      </a:lvl3pPr>
      <a:lvl4pPr algn="l" rtl="0" eaLnBrk="0" fontAlgn="base" hangingPunct="0">
        <a:spcBef>
          <a:spcPct val="0"/>
        </a:spcBef>
        <a:spcAft>
          <a:spcPct val="0"/>
        </a:spcAft>
        <a:defRPr sz="4200">
          <a:solidFill>
            <a:schemeClr val="tx2"/>
          </a:solidFill>
          <a:latin typeface="Arial" charset="0"/>
        </a:defRPr>
      </a:lvl4pPr>
      <a:lvl5pPr algn="l" rtl="0" eaLnBrk="0" fontAlgn="base" hangingPunct="0">
        <a:spcBef>
          <a:spcPct val="0"/>
        </a:spcBef>
        <a:spcAft>
          <a:spcPct val="0"/>
        </a:spcAft>
        <a:defRPr sz="4200">
          <a:solidFill>
            <a:schemeClr val="tx2"/>
          </a:solidFill>
          <a:latin typeface="Arial" charset="0"/>
        </a:defRPr>
      </a:lvl5pPr>
      <a:lvl6pPr marL="457200" algn="l" rtl="0" eaLnBrk="1" fontAlgn="base" hangingPunct="1">
        <a:spcBef>
          <a:spcPct val="0"/>
        </a:spcBef>
        <a:spcAft>
          <a:spcPct val="0"/>
        </a:spcAft>
        <a:defRPr sz="4200">
          <a:solidFill>
            <a:schemeClr val="tx2"/>
          </a:solidFill>
          <a:latin typeface="Arial" charset="0"/>
        </a:defRPr>
      </a:lvl6pPr>
      <a:lvl7pPr marL="914400" algn="l" rtl="0" eaLnBrk="1" fontAlgn="base" hangingPunct="1">
        <a:spcBef>
          <a:spcPct val="0"/>
        </a:spcBef>
        <a:spcAft>
          <a:spcPct val="0"/>
        </a:spcAft>
        <a:defRPr sz="4200">
          <a:solidFill>
            <a:schemeClr val="tx2"/>
          </a:solidFill>
          <a:latin typeface="Arial" charset="0"/>
        </a:defRPr>
      </a:lvl7pPr>
      <a:lvl8pPr marL="1371600" algn="l" rtl="0" eaLnBrk="1" fontAlgn="base" hangingPunct="1">
        <a:spcBef>
          <a:spcPct val="0"/>
        </a:spcBef>
        <a:spcAft>
          <a:spcPct val="0"/>
        </a:spcAft>
        <a:defRPr sz="4200">
          <a:solidFill>
            <a:schemeClr val="tx2"/>
          </a:solidFill>
          <a:latin typeface="Arial" charset="0"/>
        </a:defRPr>
      </a:lvl8pPr>
      <a:lvl9pPr marL="1828800" algn="l" rtl="0" eaLnBrk="1" fontAlgn="base" hangingPunct="1">
        <a:spcBef>
          <a:spcPct val="0"/>
        </a:spcBef>
        <a:spcAft>
          <a:spcPct val="0"/>
        </a:spcAft>
        <a:defRPr sz="42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SzPct val="70000"/>
        <a:buFont typeface="Wingdings"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2" charset="2"/>
        <a:buChar char="l"/>
        <a:defRPr sz="2800">
          <a:solidFill>
            <a:schemeClr val="tx2"/>
          </a:solidFill>
          <a:latin typeface="+mn-lt"/>
        </a:defRPr>
      </a:lvl2pPr>
      <a:lvl3pPr marL="1143000" indent="-228600" algn="l" rtl="0" eaLnBrk="0" fontAlgn="base" hangingPunct="0">
        <a:spcBef>
          <a:spcPct val="20000"/>
        </a:spcBef>
        <a:spcAft>
          <a:spcPct val="0"/>
        </a:spcAft>
        <a:buClr>
          <a:schemeClr val="accent2"/>
        </a:buClr>
        <a:defRPr sz="2400">
          <a:solidFill>
            <a:schemeClr val="tx2"/>
          </a:solidFill>
          <a:latin typeface="+mn-lt"/>
        </a:defRPr>
      </a:lvl3pPr>
      <a:lvl4pPr marL="1600200" indent="-228600" algn="l" rtl="0" eaLnBrk="0" fontAlgn="base" hangingPunct="0">
        <a:spcBef>
          <a:spcPct val="20000"/>
        </a:spcBef>
        <a:spcAft>
          <a:spcPct val="0"/>
        </a:spcAft>
        <a:buClr>
          <a:schemeClr val="tx1"/>
        </a:buClr>
        <a:defRPr sz="2000">
          <a:solidFill>
            <a:schemeClr val="tx2"/>
          </a:solidFill>
          <a:latin typeface="+mn-lt"/>
        </a:defRPr>
      </a:lvl4pPr>
      <a:lvl5pPr marL="2057400" indent="-228600" algn="l" rtl="0" eaLnBrk="0" fontAlgn="base" hangingPunct="0">
        <a:spcBef>
          <a:spcPct val="20000"/>
        </a:spcBef>
        <a:spcAft>
          <a:spcPct val="0"/>
        </a:spcAft>
        <a:defRPr sz="2000">
          <a:solidFill>
            <a:schemeClr val="tx2"/>
          </a:solidFill>
          <a:latin typeface="+mn-lt"/>
        </a:defRPr>
      </a:lvl5pPr>
      <a:lvl6pPr marL="2514600" indent="-228600" algn="l" rtl="0" eaLnBrk="1" fontAlgn="base" hangingPunct="1">
        <a:spcBef>
          <a:spcPct val="20000"/>
        </a:spcBef>
        <a:spcAft>
          <a:spcPct val="0"/>
        </a:spcAft>
        <a:buChar char="•"/>
        <a:defRPr sz="2000">
          <a:solidFill>
            <a:schemeClr val="tx2"/>
          </a:solidFill>
          <a:latin typeface="+mn-lt"/>
        </a:defRPr>
      </a:lvl6pPr>
      <a:lvl7pPr marL="2971800" indent="-228600" algn="l" rtl="0" eaLnBrk="1" fontAlgn="base" hangingPunct="1">
        <a:spcBef>
          <a:spcPct val="20000"/>
        </a:spcBef>
        <a:spcAft>
          <a:spcPct val="0"/>
        </a:spcAft>
        <a:buChar char="•"/>
        <a:defRPr sz="2000">
          <a:solidFill>
            <a:schemeClr val="tx2"/>
          </a:solidFill>
          <a:latin typeface="+mn-lt"/>
        </a:defRPr>
      </a:lvl7pPr>
      <a:lvl8pPr marL="3429000" indent="-228600" algn="l" rtl="0" eaLnBrk="1" fontAlgn="base" hangingPunct="1">
        <a:spcBef>
          <a:spcPct val="20000"/>
        </a:spcBef>
        <a:spcAft>
          <a:spcPct val="0"/>
        </a:spcAft>
        <a:buChar char="•"/>
        <a:defRPr sz="2000">
          <a:solidFill>
            <a:schemeClr val="tx2"/>
          </a:solidFill>
          <a:latin typeface="+mn-lt"/>
        </a:defRPr>
      </a:lvl8pPr>
      <a:lvl9pPr marL="3886200" indent="-228600" algn="l" rtl="0" eaLnBrk="1" fontAlgn="base" hangingPunct="1">
        <a:spcBef>
          <a:spcPct val="20000"/>
        </a:spcBef>
        <a:spcAft>
          <a:spcPct val="0"/>
        </a:spcAft>
        <a:buChar char="•"/>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338"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4339"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A8DF46A3-B21E-41D6-B719-692B8A90435C}" type="datetime1">
              <a:rPr lang="en-US" smtClean="0"/>
              <a:pPr>
                <a:defRPr/>
              </a:pPr>
              <a:t>06/16/2020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dirty="0"/>
              <a:t>DRAFT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FD4822DD-A0E3-4BDE-AE5F-28C87728E464}" type="slidenum">
              <a:rPr lang="en-US"/>
              <a:pPr>
                <a:defRPr/>
              </a:pPr>
              <a:t>‹#›</a:t>
            </a:fld>
            <a:endParaRPr lang="en-US" dirty="0"/>
          </a:p>
        </p:txBody>
      </p:sp>
    </p:spTree>
  </p:cSld>
  <p:clrMap bg1="dk2" tx1="lt1" bg2="dk1" tx2="lt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60BB8745-2A0C-4E79-9E45-26A26759955F}" type="datetime1">
              <a:rPr lang="en-US" smtClean="0"/>
              <a:pPr>
                <a:defRPr/>
              </a:pPr>
              <a:t>06/16/2020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dirty="0"/>
              <a:t>DRAFT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787FA557-2A83-4324-B42D-E4C706BE947E}" type="slidenum">
              <a:rPr lang="en-US" smtClean="0"/>
              <a:pPr>
                <a:defRPr/>
              </a:pPr>
              <a:t>‹#›</a:t>
            </a:fld>
            <a:endParaRPr lang="en-US" dirty="0"/>
          </a:p>
        </p:txBody>
      </p:sp>
      <p:pic>
        <p:nvPicPr>
          <p:cNvPr id="2055" name="Picture 6" descr="PowerPointPBGC_red_wh_blue3.tif"/>
          <p:cNvPicPr>
            <a:picLocks noChangeAspect="1"/>
          </p:cNvPicPr>
          <p:nvPr/>
        </p:nvPicPr>
        <p:blipFill>
          <a:blip r:embed="rId12"/>
          <a:srcRect t="23334"/>
          <a:stretch>
            <a:fillRect/>
          </a:stretch>
        </p:blipFill>
        <p:spPr bwMode="auto">
          <a:xfrm>
            <a:off x="6350" y="1600200"/>
            <a:ext cx="9137650" cy="5257800"/>
          </a:xfrm>
          <a:prstGeom prst="rect">
            <a:avLst/>
          </a:prstGeom>
          <a:noFill/>
          <a:ln w="9525">
            <a:noFill/>
            <a:miter lim="800000"/>
            <a:headEnd/>
            <a:tailEnd/>
          </a:ln>
        </p:spPr>
      </p:pic>
      <p:sp>
        <p:nvSpPr>
          <p:cNvPr id="8" name="TextBox 7"/>
          <p:cNvSpPr txBox="1"/>
          <p:nvPr/>
        </p:nvSpPr>
        <p:spPr>
          <a:xfrm>
            <a:off x="806596" y="6477000"/>
            <a:ext cx="3106876" cy="307777"/>
          </a:xfrm>
          <a:prstGeom prst="rect">
            <a:avLst/>
          </a:prstGeom>
          <a:noFill/>
        </p:spPr>
        <p:txBody>
          <a:bodyPr wrap="none" rtlCol="0">
            <a:spAutoFit/>
          </a:bodyPr>
          <a:lstStyle/>
          <a:p>
            <a:r>
              <a:rPr lang="en-US" sz="1400" i="1" dirty="0">
                <a:solidFill>
                  <a:schemeClr val="bg1"/>
                </a:solidFill>
              </a:rPr>
              <a:t>Office of Benefits Administration (OBA)</a:t>
            </a:r>
            <a:r>
              <a:rPr lang="en-US" sz="1400" i="1" baseline="0" dirty="0">
                <a:solidFill>
                  <a:schemeClr val="bg1"/>
                </a:solidFill>
              </a:rPr>
              <a:t> </a:t>
            </a:r>
            <a:endParaRPr lang="en-US" sz="1400" i="1" dirty="0">
              <a:solidFill>
                <a:schemeClr val="bg1"/>
              </a:solidFill>
            </a:endParaRPr>
          </a:p>
        </p:txBody>
      </p:sp>
      <p:pic>
        <p:nvPicPr>
          <p:cNvPr id="9" name="Picture 5" descr="PBGC_Color.jpg"/>
          <p:cNvPicPr>
            <a:picLocks noChangeAspect="1"/>
          </p:cNvPicPr>
          <p:nvPr/>
        </p:nvPicPr>
        <p:blipFill>
          <a:blip r:embed="rId13"/>
          <a:srcRect/>
          <a:stretch>
            <a:fillRect/>
          </a:stretch>
        </p:blipFill>
        <p:spPr bwMode="auto">
          <a:xfrm>
            <a:off x="7391400" y="5861893"/>
            <a:ext cx="1143000" cy="85958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Lst>
  <p:hf hdr="0" ftr="0"/>
  <p:txStyles>
    <p:titleStyle>
      <a:lvl1pPr algn="ctr" defTabSz="457200" rtl="0" eaLnBrk="1" fontAlgn="base" hangingPunct="1">
        <a:spcBef>
          <a:spcPct val="0"/>
        </a:spcBef>
        <a:spcAft>
          <a:spcPct val="0"/>
        </a:spcAft>
        <a:defRPr sz="4400" kern="1200">
          <a:solidFill>
            <a:schemeClr val="tx1"/>
          </a:solidFill>
          <a:latin typeface="+mj-lt"/>
          <a:ea typeface="+mj-ea"/>
          <a:cs typeface="+mj-cs"/>
        </a:defRPr>
      </a:lvl1pPr>
      <a:lvl2pPr algn="ctr" defTabSz="457200" rtl="0" eaLnBrk="1" fontAlgn="base" hangingPunct="1">
        <a:spcBef>
          <a:spcPct val="0"/>
        </a:spcBef>
        <a:spcAft>
          <a:spcPct val="0"/>
        </a:spcAft>
        <a:defRPr sz="4400">
          <a:solidFill>
            <a:schemeClr val="tx1"/>
          </a:solidFill>
          <a:latin typeface="Calibri" pitchFamily="34" charset="0"/>
        </a:defRPr>
      </a:lvl2pPr>
      <a:lvl3pPr algn="ctr" defTabSz="457200" rtl="0" eaLnBrk="1" fontAlgn="base" hangingPunct="1">
        <a:spcBef>
          <a:spcPct val="0"/>
        </a:spcBef>
        <a:spcAft>
          <a:spcPct val="0"/>
        </a:spcAft>
        <a:defRPr sz="4400">
          <a:solidFill>
            <a:schemeClr val="tx1"/>
          </a:solidFill>
          <a:latin typeface="Calibri" pitchFamily="34" charset="0"/>
        </a:defRPr>
      </a:lvl3pPr>
      <a:lvl4pPr algn="ctr" defTabSz="457200" rtl="0" eaLnBrk="1" fontAlgn="base" hangingPunct="1">
        <a:spcBef>
          <a:spcPct val="0"/>
        </a:spcBef>
        <a:spcAft>
          <a:spcPct val="0"/>
        </a:spcAft>
        <a:defRPr sz="4400">
          <a:solidFill>
            <a:schemeClr val="tx1"/>
          </a:solidFill>
          <a:latin typeface="Calibri" pitchFamily="34" charset="0"/>
        </a:defRPr>
      </a:lvl4pPr>
      <a:lvl5pPr algn="ctr" defTabSz="457200" rtl="0" eaLnBrk="1" fontAlgn="base" hangingPunct="1">
        <a:spcBef>
          <a:spcPct val="0"/>
        </a:spcBef>
        <a:spcAft>
          <a:spcPct val="0"/>
        </a:spcAft>
        <a:defRPr sz="4400">
          <a:solidFill>
            <a:schemeClr val="tx1"/>
          </a:solidFill>
          <a:latin typeface="Calibri" pitchFamily="34" charset="0"/>
        </a:defRPr>
      </a:lvl5pPr>
      <a:lvl6pPr marL="457200" algn="ctr" defTabSz="457200" rtl="0" eaLnBrk="1" fontAlgn="base" hangingPunct="1">
        <a:spcBef>
          <a:spcPct val="0"/>
        </a:spcBef>
        <a:spcAft>
          <a:spcPct val="0"/>
        </a:spcAft>
        <a:defRPr sz="4400">
          <a:solidFill>
            <a:schemeClr val="tx1"/>
          </a:solidFill>
          <a:latin typeface="Calibri" pitchFamily="34" charset="0"/>
        </a:defRPr>
      </a:lvl6pPr>
      <a:lvl7pPr marL="914400" algn="ctr" defTabSz="457200" rtl="0" eaLnBrk="1" fontAlgn="base" hangingPunct="1">
        <a:spcBef>
          <a:spcPct val="0"/>
        </a:spcBef>
        <a:spcAft>
          <a:spcPct val="0"/>
        </a:spcAft>
        <a:defRPr sz="4400">
          <a:solidFill>
            <a:schemeClr val="tx1"/>
          </a:solidFill>
          <a:latin typeface="Calibri" pitchFamily="34" charset="0"/>
        </a:defRPr>
      </a:lvl7pPr>
      <a:lvl8pPr marL="1371600" algn="ctr" defTabSz="457200" rtl="0" eaLnBrk="1" fontAlgn="base" hangingPunct="1">
        <a:spcBef>
          <a:spcPct val="0"/>
        </a:spcBef>
        <a:spcAft>
          <a:spcPct val="0"/>
        </a:spcAft>
        <a:defRPr sz="4400">
          <a:solidFill>
            <a:schemeClr val="tx1"/>
          </a:solidFill>
          <a:latin typeface="Calibri" pitchFamily="34" charset="0"/>
        </a:defRPr>
      </a:lvl8pPr>
      <a:lvl9pPr marL="1828800" algn="ctr" defTabSz="457200"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defTabSz="457200"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defTabSz="457200"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D79D7-31B0-4E34-B8A8-8562E15C28FE}"/>
              </a:ext>
            </a:extLst>
          </p:cNvPr>
          <p:cNvSpPr>
            <a:spLocks noGrp="1"/>
          </p:cNvSpPr>
          <p:nvPr>
            <p:ph type="ctrTitle"/>
          </p:nvPr>
        </p:nvSpPr>
        <p:spPr/>
        <p:txBody>
          <a:bodyPr/>
          <a:lstStyle/>
          <a:p>
            <a:r>
              <a:rPr lang="en-US" dirty="0">
                <a:effectLst>
                  <a:outerShdw blurRad="38100" dist="38100" dir="2700000" algn="tl">
                    <a:srgbClr val="000000">
                      <a:alpha val="43137"/>
                    </a:srgbClr>
                  </a:outerShdw>
                </a:effectLst>
              </a:rPr>
              <a:t>Benefit Statement Guidance</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Updates</a:t>
            </a:r>
          </a:p>
        </p:txBody>
      </p:sp>
      <p:sp>
        <p:nvSpPr>
          <p:cNvPr id="3" name="Subtitle 2">
            <a:extLst>
              <a:ext uri="{FF2B5EF4-FFF2-40B4-BE49-F238E27FC236}">
                <a16:creationId xmlns:a16="http://schemas.microsoft.com/office/drawing/2014/main" id="{532B6BA6-BC77-4C67-ABEA-E118215365B7}"/>
              </a:ext>
            </a:extLst>
          </p:cNvPr>
          <p:cNvSpPr>
            <a:spLocks noGrp="1"/>
          </p:cNvSpPr>
          <p:nvPr>
            <p:ph type="subTitle" idx="1"/>
          </p:nvPr>
        </p:nvSpPr>
        <p:spPr>
          <a:xfrm>
            <a:off x="1371600" y="4359274"/>
            <a:ext cx="6400800" cy="746126"/>
          </a:xfrm>
        </p:spPr>
        <p:txBody>
          <a:bodyPr/>
          <a:lstStyle/>
          <a:p>
            <a:pPr algn="r"/>
            <a:r>
              <a:rPr lang="en-US" sz="2000" dirty="0">
                <a:effectLst>
                  <a:outerShdw blurRad="38100" dist="38100" dir="2700000" algn="tl">
                    <a:srgbClr val="000000">
                      <a:alpha val="43137"/>
                    </a:srgbClr>
                  </a:outerShdw>
                </a:effectLst>
              </a:rPr>
              <a:t>June 17, 2020</a:t>
            </a:r>
          </a:p>
          <a:p>
            <a:pPr algn="r"/>
            <a:r>
              <a:rPr lang="en-US" sz="2000" dirty="0">
                <a:effectLst>
                  <a:outerShdw blurRad="38100" dist="38100" dir="2700000" algn="tl">
                    <a:srgbClr val="000000">
                      <a:alpha val="43137"/>
                    </a:srgbClr>
                  </a:outerShdw>
                </a:effectLst>
              </a:rPr>
              <a:t>Written and presented by Starling Rivers</a:t>
            </a:r>
          </a:p>
        </p:txBody>
      </p:sp>
      <p:sp>
        <p:nvSpPr>
          <p:cNvPr id="5" name="Slide Number Placeholder 4"/>
          <p:cNvSpPr>
            <a:spLocks noGrp="1"/>
          </p:cNvSpPr>
          <p:nvPr>
            <p:ph type="sldNum" sz="quarter" idx="12"/>
          </p:nvPr>
        </p:nvSpPr>
        <p:spPr/>
        <p:txBody>
          <a:bodyPr/>
          <a:lstStyle/>
          <a:p>
            <a:pPr>
              <a:defRPr/>
            </a:pPr>
            <a:fld id="{920BCC9A-C72B-4004-AD74-D0F250D747EF}" type="slidenum">
              <a:rPr lang="en-US" smtClean="0"/>
              <a:pPr>
                <a:defRPr/>
              </a:pPr>
              <a:t>1</a:t>
            </a:fld>
            <a:endParaRPr lang="en-US" dirty="0"/>
          </a:p>
        </p:txBody>
      </p:sp>
    </p:spTree>
    <p:extLst>
      <p:ext uri="{BB962C8B-B14F-4D97-AF65-F5344CB8AC3E}">
        <p14:creationId xmlns:p14="http://schemas.microsoft.com/office/powerpoint/2010/main" val="3026771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I.B.2</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57200" y="1600201"/>
            <a:ext cx="8229600" cy="4343400"/>
          </a:xfrm>
        </p:spPr>
        <p:txBody>
          <a:bodyPr/>
          <a:lstStyle/>
          <a:p>
            <a:r>
              <a:rPr lang="en-US" dirty="0"/>
              <a:t>Deleted ATM Section I.B.2.s Participants Electing PBGC optional Annuity Form with Non-spouse Beneficiaries</a:t>
            </a:r>
          </a:p>
          <a:p>
            <a:pPr lvl="1"/>
            <a:r>
              <a:rPr lang="en-US" sz="2400" dirty="0"/>
              <a:t>The paragraph may cause confusion because the accompanying Optional Benefit Form includes a note for Option B that it is “Only available for spouse as beneficiary.” Since the OBF provides sufficient clarity on the options available to the participant, it is not necessary to further explain on the Benefit Determination Statement.</a:t>
            </a:r>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2</a:t>
            </a:fld>
            <a:endParaRPr lang="en-US" dirty="0"/>
          </a:p>
        </p:txBody>
      </p:sp>
    </p:spTree>
    <p:extLst>
      <p:ext uri="{BB962C8B-B14F-4D97-AF65-F5344CB8AC3E}">
        <p14:creationId xmlns:p14="http://schemas.microsoft.com/office/powerpoint/2010/main" val="2463269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57200" y="1409700"/>
            <a:ext cx="8229600" cy="4610100"/>
          </a:xfrm>
        </p:spPr>
        <p:txBody>
          <a:bodyPr/>
          <a:lstStyle/>
          <a:p>
            <a:pPr marL="0" indent="0">
              <a:buNone/>
            </a:pPr>
            <a:r>
              <a:rPr lang="en-US" dirty="0"/>
              <a:t>New language was added to ATM Sections I.B.3.a and I.B.3.c.:</a:t>
            </a:r>
          </a:p>
          <a:p>
            <a:r>
              <a:rPr lang="en-US" dirty="0"/>
              <a:t>To add end dates for deceased participants who retired under a Straight Life Annuity and for deceased beneficiaries</a:t>
            </a:r>
          </a:p>
          <a:p>
            <a:r>
              <a:rPr lang="en-US" dirty="0"/>
              <a:t>To address payment frequency changes on Benefit Determination Statements</a:t>
            </a:r>
          </a:p>
          <a:p>
            <a:endParaRPr lang="en-US" sz="2800" dirty="0"/>
          </a:p>
          <a:p>
            <a:endParaRPr lang="en-US" dirty="0"/>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3</a:t>
            </a:fld>
            <a:endParaRPr lang="en-US" dirty="0"/>
          </a:p>
        </p:txBody>
      </p:sp>
    </p:spTree>
    <p:extLst>
      <p:ext uri="{BB962C8B-B14F-4D97-AF65-F5344CB8AC3E}">
        <p14:creationId xmlns:p14="http://schemas.microsoft.com/office/powerpoint/2010/main" val="2745512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57200" y="1600201"/>
            <a:ext cx="8229600" cy="4343400"/>
          </a:xfrm>
        </p:spPr>
        <p:txBody>
          <a:bodyPr/>
          <a:lstStyle/>
          <a:p>
            <a:pPr marL="0" indent="0">
              <a:buNone/>
            </a:pPr>
            <a:r>
              <a:rPr lang="en-US" sz="2400" dirty="0"/>
              <a:t>To be clear when payments should have ended for:</a:t>
            </a:r>
          </a:p>
          <a:p>
            <a:endParaRPr lang="en-US" sz="2400" dirty="0"/>
          </a:p>
          <a:p>
            <a:r>
              <a:rPr lang="en-US" sz="2400" dirty="0"/>
              <a:t>Participants who were receiving a Straight Life Annuity but are deceased at BDL Issuance and</a:t>
            </a:r>
          </a:p>
          <a:p>
            <a:endParaRPr lang="en-US" sz="2400" dirty="0"/>
          </a:p>
          <a:p>
            <a:r>
              <a:rPr lang="en-US" sz="2400" dirty="0"/>
              <a:t>Beneficiaries who were receiving a benefit but are deceased at BDL Issuance,</a:t>
            </a:r>
          </a:p>
          <a:p>
            <a:endParaRPr lang="en-US" sz="2400" dirty="0"/>
          </a:p>
          <a:p>
            <a:pPr marL="0" indent="0">
              <a:buNone/>
            </a:pPr>
            <a:r>
              <a:rPr lang="en-US" sz="2400" dirty="0"/>
              <a:t>end dates were added to the Summary of Benefits section.</a:t>
            </a:r>
          </a:p>
          <a:p>
            <a:pPr marL="0" indent="0">
              <a:buNone/>
            </a:pPr>
            <a:endParaRPr lang="en-US" sz="2400" dirty="0"/>
          </a:p>
          <a:p>
            <a:pPr marL="0" indent="0">
              <a:buNone/>
            </a:pPr>
            <a:r>
              <a:rPr lang="en-US" sz="2400" dirty="0"/>
              <a:t>  </a:t>
            </a:r>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4</a:t>
            </a:fld>
            <a:endParaRPr lang="en-US" dirty="0"/>
          </a:p>
        </p:txBody>
      </p:sp>
    </p:spTree>
    <p:extLst>
      <p:ext uri="{BB962C8B-B14F-4D97-AF65-F5344CB8AC3E}">
        <p14:creationId xmlns:p14="http://schemas.microsoft.com/office/powerpoint/2010/main" val="2488111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57200" y="1600201"/>
            <a:ext cx="8229600" cy="4343400"/>
          </a:xfrm>
        </p:spPr>
        <p:txBody>
          <a:bodyPr/>
          <a:lstStyle/>
          <a:p>
            <a:pPr marL="0" indent="0">
              <a:buNone/>
            </a:pPr>
            <a:r>
              <a:rPr lang="en-US" sz="1400" dirty="0"/>
              <a:t>To  ATM I.B.3.a.i, added additional instructions:</a:t>
            </a:r>
          </a:p>
          <a:p>
            <a:pPr marL="0" indent="0">
              <a:buNone/>
            </a:pPr>
            <a:endParaRPr lang="en-US" sz="1400" dirty="0"/>
          </a:p>
          <a:p>
            <a:pPr marL="0" indent="0">
              <a:buNone/>
            </a:pPr>
            <a:r>
              <a:rPr lang="en-US" sz="1400" dirty="0"/>
              <a:t>For deceased participants who retired under a Straight Life Annuity, replace the above with the following:</a:t>
            </a:r>
          </a:p>
          <a:p>
            <a:pPr marL="0" indent="0">
              <a:buNone/>
            </a:pPr>
            <a:endParaRPr lang="en-US" sz="1400" dirty="0"/>
          </a:p>
          <a:p>
            <a:pPr marL="0" indent="0">
              <a:buNone/>
            </a:pPr>
            <a:r>
              <a:rPr lang="en-US" sz="1400" b="1" dirty="0"/>
              <a:t>"Summary of Participant's Benefits</a:t>
            </a:r>
          </a:p>
          <a:p>
            <a:pPr marL="0" indent="0">
              <a:buNone/>
            </a:pPr>
            <a:endParaRPr lang="en-US" sz="1400" b="1" dirty="0"/>
          </a:p>
          <a:p>
            <a:pPr marL="0" indent="0">
              <a:buNone/>
            </a:pPr>
            <a:r>
              <a:rPr lang="en-US" sz="1400" b="1" dirty="0"/>
              <a:t>									</a:t>
            </a:r>
          </a:p>
          <a:p>
            <a:pPr marL="0" indent="0">
              <a:buNone/>
            </a:pPr>
            <a:r>
              <a:rPr lang="en-US" sz="1400" b="1" dirty="0"/>
              <a:t>						</a:t>
            </a:r>
          </a:p>
          <a:p>
            <a:pPr marL="0" indent="0">
              <a:buNone/>
            </a:pPr>
            <a:r>
              <a:rPr lang="en-US" sz="1400" b="1" dirty="0"/>
              <a:t>					</a:t>
            </a:r>
          </a:p>
          <a:p>
            <a:pPr marL="0" indent="0">
              <a:buNone/>
            </a:pPr>
            <a:endParaRPr lang="en-US" sz="1400" b="1" dirty="0"/>
          </a:p>
          <a:p>
            <a:pPr marL="0" indent="0">
              <a:buNone/>
            </a:pPr>
            <a:endParaRPr lang="en-US" sz="1400" b="1" dirty="0"/>
          </a:p>
          <a:p>
            <a:pPr marL="0" indent="0">
              <a:buNone/>
            </a:pPr>
            <a:endParaRPr lang="en-US" sz="1400" b="1" dirty="0"/>
          </a:p>
          <a:p>
            <a:pPr marL="0" indent="0">
              <a:buNone/>
            </a:pPr>
            <a:r>
              <a:rPr lang="en-US" sz="1400" b="1" dirty="0"/>
              <a:t>Your current monthly benefit of $</a:t>
            </a:r>
            <a:r>
              <a:rPr lang="en-US" sz="1400" dirty="0"/>
              <a:t>&lt;&lt;0.00&gt;&gt;</a:t>
            </a:r>
            <a:r>
              <a:rPr lang="en-US" sz="1400" b="1" dirty="0"/>
              <a:t> will not change."</a:t>
            </a:r>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5</a:t>
            </a:fld>
            <a:endParaRPr lang="en-US" dirty="0"/>
          </a:p>
        </p:txBody>
      </p:sp>
      <p:graphicFrame>
        <p:nvGraphicFramePr>
          <p:cNvPr id="10" name="Table 10">
            <a:extLst>
              <a:ext uri="{FF2B5EF4-FFF2-40B4-BE49-F238E27FC236}">
                <a16:creationId xmlns:a16="http://schemas.microsoft.com/office/drawing/2014/main" id="{6CE55010-DED7-4275-A2E2-F9545994CE24}"/>
              </a:ext>
            </a:extLst>
          </p:cNvPr>
          <p:cNvGraphicFramePr>
            <a:graphicFrameLocks noGrp="1"/>
          </p:cNvGraphicFramePr>
          <p:nvPr>
            <p:extLst>
              <p:ext uri="{D42A27DB-BD31-4B8C-83A1-F6EECF244321}">
                <p14:modId xmlns:p14="http://schemas.microsoft.com/office/powerpoint/2010/main" val="434405026"/>
              </p:ext>
            </p:extLst>
          </p:nvPr>
        </p:nvGraphicFramePr>
        <p:xfrm>
          <a:off x="485192" y="3048000"/>
          <a:ext cx="7497147" cy="1371600"/>
        </p:xfrm>
        <a:graphic>
          <a:graphicData uri="http://schemas.openxmlformats.org/drawingml/2006/table">
            <a:tbl>
              <a:tblPr firstRow="1" bandRow="1">
                <a:tableStyleId>{5C22544A-7EE6-4342-B048-85BDC9FD1C3A}</a:tableStyleId>
              </a:tblPr>
              <a:tblGrid>
                <a:gridCol w="5610808">
                  <a:extLst>
                    <a:ext uri="{9D8B030D-6E8A-4147-A177-3AD203B41FA5}">
                      <a16:colId xmlns:a16="http://schemas.microsoft.com/office/drawing/2014/main" val="804944076"/>
                    </a:ext>
                  </a:extLst>
                </a:gridCol>
                <a:gridCol w="1886339">
                  <a:extLst>
                    <a:ext uri="{9D8B030D-6E8A-4147-A177-3AD203B41FA5}">
                      <a16:colId xmlns:a16="http://schemas.microsoft.com/office/drawing/2014/main" val="979425065"/>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Actual Retirement Date (ARD):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Current Monthly Benefit before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Current Monthly Benefit on and after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PBGC Monthly Benefit at DOPT/ARD before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PBGC Monthly Benefit at DOPT/ARD on and after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Form of Annuity:</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Straight Life Annuity</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5706174"/>
                  </a:ext>
                </a:extLst>
              </a:tr>
            </a:tbl>
          </a:graphicData>
        </a:graphic>
      </p:graphicFrame>
    </p:spTree>
    <p:extLst>
      <p:ext uri="{BB962C8B-B14F-4D97-AF65-F5344CB8AC3E}">
        <p14:creationId xmlns:p14="http://schemas.microsoft.com/office/powerpoint/2010/main" val="3731394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57200" y="1600201"/>
            <a:ext cx="8229600" cy="4343400"/>
          </a:xfrm>
        </p:spPr>
        <p:txBody>
          <a:bodyPr/>
          <a:lstStyle/>
          <a:p>
            <a:pPr marL="0" indent="0">
              <a:buNone/>
            </a:pPr>
            <a:r>
              <a:rPr lang="en-US" sz="1400" dirty="0"/>
              <a:t>To  ATM I.B.3.a.ii, added additional instructions:</a:t>
            </a:r>
          </a:p>
          <a:p>
            <a:pPr marL="0" indent="0">
              <a:buNone/>
            </a:pPr>
            <a:endParaRPr lang="en-US" sz="1400" dirty="0"/>
          </a:p>
          <a:p>
            <a:pPr marL="0" indent="0">
              <a:buNone/>
            </a:pPr>
            <a:r>
              <a:rPr lang="en-US" sz="1400" dirty="0"/>
              <a:t>For deceased participants who retired under a Straight Life Annuity, replace the above with the following:</a:t>
            </a:r>
          </a:p>
          <a:p>
            <a:pPr marL="0" indent="0">
              <a:buNone/>
            </a:pPr>
            <a:endParaRPr lang="en-US" sz="1400" dirty="0"/>
          </a:p>
          <a:p>
            <a:pPr marL="0" indent="0">
              <a:buNone/>
            </a:pPr>
            <a:r>
              <a:rPr lang="en-US" sz="1400" b="1" dirty="0"/>
              <a:t>"Summary of Participant's Benefits</a:t>
            </a:r>
          </a:p>
          <a:p>
            <a:pPr marL="0" indent="0">
              <a:buNone/>
            </a:pPr>
            <a:endParaRPr lang="en-US" sz="1400" b="1" dirty="0"/>
          </a:p>
          <a:p>
            <a:pPr marL="0" indent="0">
              <a:buNone/>
            </a:pPr>
            <a:r>
              <a:rPr lang="en-US" sz="1400" b="1" dirty="0"/>
              <a:t>									</a:t>
            </a:r>
          </a:p>
          <a:p>
            <a:pPr marL="0" indent="0">
              <a:buNone/>
            </a:pPr>
            <a:r>
              <a:rPr lang="en-US" sz="1400" b="1" dirty="0"/>
              <a:t>						</a:t>
            </a:r>
          </a:p>
          <a:p>
            <a:pPr marL="0" indent="0">
              <a:buNone/>
            </a:pPr>
            <a:r>
              <a:rPr lang="en-US" sz="1400" b="1" dirty="0"/>
              <a:t>					</a:t>
            </a:r>
          </a:p>
          <a:p>
            <a:pPr marL="0" indent="0">
              <a:buNone/>
            </a:pPr>
            <a:endParaRPr lang="en-US" sz="1400" b="1" dirty="0"/>
          </a:p>
          <a:p>
            <a:pPr marL="0" indent="0">
              <a:buNone/>
            </a:pPr>
            <a:endParaRPr lang="en-US" sz="1400" b="1" dirty="0"/>
          </a:p>
          <a:p>
            <a:pPr marL="0" indent="0">
              <a:buNone/>
            </a:pPr>
            <a:endParaRPr lang="en-US" sz="1400" b="1" dirty="0"/>
          </a:p>
          <a:p>
            <a:pPr marL="0" indent="0">
              <a:buNone/>
            </a:pPr>
            <a:r>
              <a:rPr lang="en-US" sz="1400" b="1" dirty="0">
                <a:latin typeface="Calibri" panose="020F0502020204030204" pitchFamily="34" charset="0"/>
                <a:ea typeface="Calibri" panose="020F0502020204030204" pitchFamily="34" charset="0"/>
                <a:cs typeface="Times New Roman" panose="02020603050405020304" pitchFamily="18" charset="0"/>
              </a:rPr>
              <a:t>Your current monthly benefit of $</a:t>
            </a:r>
            <a:r>
              <a:rPr lang="en-US" sz="1400" dirty="0">
                <a:latin typeface="Calibri" panose="020F0502020204030204" pitchFamily="34" charset="0"/>
                <a:ea typeface="Calibri" panose="020F0502020204030204" pitchFamily="34" charset="0"/>
                <a:cs typeface="Times New Roman" panose="02020603050405020304" pitchFamily="18" charset="0"/>
              </a:rPr>
              <a:t>&lt;&lt;0.00&gt;&gt;</a:t>
            </a:r>
            <a:r>
              <a:rPr lang="en-US" sz="1400" b="1" dirty="0">
                <a:latin typeface="Calibri" panose="020F0502020204030204" pitchFamily="34" charset="0"/>
                <a:ea typeface="Calibri" panose="020F0502020204030204" pitchFamily="34" charset="0"/>
                <a:cs typeface="Times New Roman" panose="02020603050405020304" pitchFamily="18" charset="0"/>
              </a:rPr>
              <a:t> will not change. Although the amount of the PBGC monthly benefit shown above is slightly less than the amount you are currently receiving, we will not change the amount of your current monthly benefit."</a:t>
            </a:r>
            <a:endParaRPr lang="en-US" sz="1400" b="1" dirty="0"/>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6</a:t>
            </a:fld>
            <a:endParaRPr lang="en-US" dirty="0"/>
          </a:p>
        </p:txBody>
      </p:sp>
      <p:graphicFrame>
        <p:nvGraphicFramePr>
          <p:cNvPr id="10" name="Table 10">
            <a:extLst>
              <a:ext uri="{FF2B5EF4-FFF2-40B4-BE49-F238E27FC236}">
                <a16:creationId xmlns:a16="http://schemas.microsoft.com/office/drawing/2014/main" id="{6CE55010-DED7-4275-A2E2-F9545994CE24}"/>
              </a:ext>
            </a:extLst>
          </p:cNvPr>
          <p:cNvGraphicFramePr>
            <a:graphicFrameLocks noGrp="1"/>
          </p:cNvGraphicFramePr>
          <p:nvPr>
            <p:extLst>
              <p:ext uri="{D42A27DB-BD31-4B8C-83A1-F6EECF244321}">
                <p14:modId xmlns:p14="http://schemas.microsoft.com/office/powerpoint/2010/main" val="1058368368"/>
              </p:ext>
            </p:extLst>
          </p:nvPr>
        </p:nvGraphicFramePr>
        <p:xfrm>
          <a:off x="485192" y="3048000"/>
          <a:ext cx="7497147" cy="1371600"/>
        </p:xfrm>
        <a:graphic>
          <a:graphicData uri="http://schemas.openxmlformats.org/drawingml/2006/table">
            <a:tbl>
              <a:tblPr firstRow="1" bandRow="1">
                <a:tableStyleId>{5C22544A-7EE6-4342-B048-85BDC9FD1C3A}</a:tableStyleId>
              </a:tblPr>
              <a:tblGrid>
                <a:gridCol w="5610808">
                  <a:extLst>
                    <a:ext uri="{9D8B030D-6E8A-4147-A177-3AD203B41FA5}">
                      <a16:colId xmlns:a16="http://schemas.microsoft.com/office/drawing/2014/main" val="804944076"/>
                    </a:ext>
                  </a:extLst>
                </a:gridCol>
                <a:gridCol w="1886339">
                  <a:extLst>
                    <a:ext uri="{9D8B030D-6E8A-4147-A177-3AD203B41FA5}">
                      <a16:colId xmlns:a16="http://schemas.microsoft.com/office/drawing/2014/main" val="979425065"/>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Actual Retirement Date (ARD):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Current Monthly Benefit before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Current Monthly Benefit on and after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PBGC Monthly Benefit at DOPT/ARD before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PBGC Monthly Benefit at DOPT/ARD on and after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Form of Annuity:</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Straight Life Annuity</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5706174"/>
                  </a:ext>
                </a:extLst>
              </a:tr>
            </a:tbl>
          </a:graphicData>
        </a:graphic>
      </p:graphicFrame>
    </p:spTree>
    <p:extLst>
      <p:ext uri="{BB962C8B-B14F-4D97-AF65-F5344CB8AC3E}">
        <p14:creationId xmlns:p14="http://schemas.microsoft.com/office/powerpoint/2010/main" val="2269442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57200" y="1600201"/>
            <a:ext cx="8229600" cy="4343400"/>
          </a:xfrm>
        </p:spPr>
        <p:txBody>
          <a:bodyPr/>
          <a:lstStyle/>
          <a:p>
            <a:pPr marL="0" indent="0">
              <a:buNone/>
            </a:pPr>
            <a:r>
              <a:rPr lang="en-US" sz="1400" dirty="0"/>
              <a:t>To  ATM I.B.3.a.iii, added additional instructions:</a:t>
            </a:r>
          </a:p>
          <a:p>
            <a:pPr marL="0" indent="0">
              <a:buNone/>
            </a:pPr>
            <a:endParaRPr lang="en-US" sz="1400" dirty="0"/>
          </a:p>
          <a:p>
            <a:pPr marL="0" indent="0">
              <a:buNone/>
            </a:pPr>
            <a:r>
              <a:rPr lang="en-US" sz="1400" dirty="0"/>
              <a:t>For deceased participants who retired under a Straight Life Annuity, replace the above with the following:</a:t>
            </a:r>
          </a:p>
          <a:p>
            <a:pPr marL="0" indent="0">
              <a:buNone/>
            </a:pPr>
            <a:endParaRPr lang="en-US" sz="1400" dirty="0"/>
          </a:p>
          <a:p>
            <a:pPr marL="0" indent="0">
              <a:buNone/>
            </a:pPr>
            <a:r>
              <a:rPr lang="en-US" sz="1400" b="1" dirty="0"/>
              <a:t>"Summary of Participant's Benefits</a:t>
            </a:r>
          </a:p>
          <a:p>
            <a:pPr marL="0" indent="0">
              <a:buNone/>
            </a:pPr>
            <a:endParaRPr lang="en-US" sz="1400" b="1" dirty="0"/>
          </a:p>
          <a:p>
            <a:pPr marL="0" indent="0">
              <a:buNone/>
            </a:pPr>
            <a:r>
              <a:rPr lang="en-US" sz="1400" b="1" dirty="0"/>
              <a:t>									</a:t>
            </a:r>
          </a:p>
          <a:p>
            <a:pPr marL="0" indent="0">
              <a:buNone/>
            </a:pPr>
            <a:r>
              <a:rPr lang="en-US" sz="1400" b="1" dirty="0"/>
              <a:t>						</a:t>
            </a:r>
          </a:p>
          <a:p>
            <a:pPr marL="0" indent="0">
              <a:buNone/>
            </a:pPr>
            <a:r>
              <a:rPr lang="en-US" sz="1400" b="1" dirty="0"/>
              <a:t>					</a:t>
            </a:r>
          </a:p>
          <a:p>
            <a:pPr marL="0" indent="0">
              <a:buNone/>
            </a:pPr>
            <a:endParaRPr lang="en-US" sz="1400" b="1" dirty="0"/>
          </a:p>
          <a:p>
            <a:pPr marL="0" indent="0">
              <a:buNone/>
            </a:pPr>
            <a:endParaRPr lang="en-US" sz="1400" b="1" dirty="0"/>
          </a:p>
          <a:p>
            <a:pPr marL="0" indent="0">
              <a:buNone/>
            </a:pPr>
            <a:endParaRPr lang="en-US" sz="1400" b="1" dirty="0"/>
          </a:p>
          <a:p>
            <a:pPr marL="0" indent="0">
              <a:buNone/>
            </a:pPr>
            <a:r>
              <a:rPr lang="en-US" sz="1400" b="1" dirty="0">
                <a:latin typeface="Calibri" panose="020F0502020204030204" pitchFamily="34" charset="0"/>
                <a:ea typeface="Calibri" panose="020F0502020204030204" pitchFamily="34" charset="0"/>
                <a:cs typeface="Times New Roman" panose="02020603050405020304" pitchFamily="18" charset="0"/>
              </a:rPr>
              <a:t>Your current monthly benefit of $</a:t>
            </a:r>
            <a:r>
              <a:rPr lang="en-US" sz="1400" dirty="0">
                <a:latin typeface="Calibri" panose="020F0502020204030204" pitchFamily="34" charset="0"/>
                <a:ea typeface="Calibri" panose="020F0502020204030204" pitchFamily="34" charset="0"/>
                <a:cs typeface="Times New Roman" panose="02020603050405020304" pitchFamily="18" charset="0"/>
              </a:rPr>
              <a:t>&lt;&lt;0.00&gt;&gt;</a:t>
            </a:r>
            <a:r>
              <a:rPr lang="en-US" sz="1400" b="1" dirty="0">
                <a:latin typeface="Calibri" panose="020F0502020204030204" pitchFamily="34" charset="0"/>
                <a:ea typeface="Calibri" panose="020F0502020204030204" pitchFamily="34" charset="0"/>
                <a:cs typeface="Times New Roman" panose="02020603050405020304" pitchFamily="18" charset="0"/>
              </a:rPr>
              <a:t> will decrease to $</a:t>
            </a:r>
            <a:r>
              <a:rPr lang="en-US" sz="1400" dirty="0">
                <a:latin typeface="Calibri" panose="020F0502020204030204" pitchFamily="34" charset="0"/>
                <a:ea typeface="Calibri" panose="020F0502020204030204" pitchFamily="34" charset="0"/>
                <a:cs typeface="Times New Roman" panose="02020603050405020304" pitchFamily="18" charset="0"/>
              </a:rPr>
              <a:t>&lt;&lt;0.00&gt;&gt; [Explain reason in simple terms. </a:t>
            </a:r>
            <a:r>
              <a:rPr lang="en-US" sz="1400" i="1" dirty="0">
                <a:latin typeface="Calibri" panose="020F0502020204030204" pitchFamily="34" charset="0"/>
                <a:ea typeface="Calibri" panose="020F0502020204030204" pitchFamily="34" charset="0"/>
                <a:cs typeface="Times New Roman" panose="02020603050405020304" pitchFamily="18" charset="0"/>
              </a:rPr>
              <a:t>See below for examples</a:t>
            </a:r>
            <a:r>
              <a:rPr lang="en-US" sz="1400" dirty="0">
                <a:latin typeface="Calibri" panose="020F0502020204030204" pitchFamily="34" charset="0"/>
                <a:ea typeface="Calibri" panose="020F0502020204030204" pitchFamily="34" charset="0"/>
                <a:cs typeface="Times New Roman" panose="02020603050405020304" pitchFamily="18" charset="0"/>
              </a:rPr>
              <a:t>.]</a:t>
            </a:r>
            <a:r>
              <a:rPr lang="en-US" sz="1400" b="1" dirty="0">
                <a:latin typeface="Calibri" panose="020F0502020204030204" pitchFamily="34" charset="0"/>
                <a:ea typeface="Calibri" panose="020F0502020204030204" pitchFamily="34" charset="0"/>
                <a:cs typeface="Times New Roman" panose="02020603050405020304" pitchFamily="18" charset="0"/>
              </a:rPr>
              <a:t>. See the Benefit Calculation section for further details."</a:t>
            </a:r>
            <a:endParaRPr lang="en-US" sz="1400" b="1" dirty="0"/>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7</a:t>
            </a:fld>
            <a:endParaRPr lang="en-US" dirty="0"/>
          </a:p>
        </p:txBody>
      </p:sp>
      <p:graphicFrame>
        <p:nvGraphicFramePr>
          <p:cNvPr id="10" name="Table 10">
            <a:extLst>
              <a:ext uri="{FF2B5EF4-FFF2-40B4-BE49-F238E27FC236}">
                <a16:creationId xmlns:a16="http://schemas.microsoft.com/office/drawing/2014/main" id="{6CE55010-DED7-4275-A2E2-F9545994CE24}"/>
              </a:ext>
            </a:extLst>
          </p:cNvPr>
          <p:cNvGraphicFramePr>
            <a:graphicFrameLocks noGrp="1"/>
          </p:cNvGraphicFramePr>
          <p:nvPr>
            <p:extLst>
              <p:ext uri="{D42A27DB-BD31-4B8C-83A1-F6EECF244321}">
                <p14:modId xmlns:p14="http://schemas.microsoft.com/office/powerpoint/2010/main" val="779067901"/>
              </p:ext>
            </p:extLst>
          </p:nvPr>
        </p:nvGraphicFramePr>
        <p:xfrm>
          <a:off x="485192" y="3048000"/>
          <a:ext cx="7497147" cy="1371600"/>
        </p:xfrm>
        <a:graphic>
          <a:graphicData uri="http://schemas.openxmlformats.org/drawingml/2006/table">
            <a:tbl>
              <a:tblPr firstRow="1" bandRow="1">
                <a:tableStyleId>{5C22544A-7EE6-4342-B048-85BDC9FD1C3A}</a:tableStyleId>
              </a:tblPr>
              <a:tblGrid>
                <a:gridCol w="5534608">
                  <a:extLst>
                    <a:ext uri="{9D8B030D-6E8A-4147-A177-3AD203B41FA5}">
                      <a16:colId xmlns:a16="http://schemas.microsoft.com/office/drawing/2014/main" val="804944076"/>
                    </a:ext>
                  </a:extLst>
                </a:gridCol>
                <a:gridCol w="1962539">
                  <a:extLst>
                    <a:ext uri="{9D8B030D-6E8A-4147-A177-3AD203B41FA5}">
                      <a16:colId xmlns:a16="http://schemas.microsoft.com/office/drawing/2014/main" val="979425065"/>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Actual Retirement Date (ARD):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Current Estimated Monthly Benefit before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Current Estimated Monthly Benefit on and after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PBGC Monthly Benefit at DOPT/ARD before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PBGC Monthly Benefit at DOPT/ARD on and after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Form of Annuity:</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Straight Life Annuity</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5706174"/>
                  </a:ext>
                </a:extLst>
              </a:tr>
            </a:tbl>
          </a:graphicData>
        </a:graphic>
      </p:graphicFrame>
    </p:spTree>
    <p:extLst>
      <p:ext uri="{BB962C8B-B14F-4D97-AF65-F5344CB8AC3E}">
        <p14:creationId xmlns:p14="http://schemas.microsoft.com/office/powerpoint/2010/main" val="1920388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57200" y="1600201"/>
            <a:ext cx="8229600" cy="4343400"/>
          </a:xfrm>
        </p:spPr>
        <p:txBody>
          <a:bodyPr/>
          <a:lstStyle/>
          <a:p>
            <a:pPr marL="0" indent="0">
              <a:buNone/>
            </a:pPr>
            <a:r>
              <a:rPr lang="en-US" sz="1400" dirty="0"/>
              <a:t>To  ATM I.B.3.a.iv, added additional instructions:</a:t>
            </a:r>
          </a:p>
          <a:p>
            <a:pPr marL="0" indent="0">
              <a:buNone/>
            </a:pPr>
            <a:endParaRPr lang="en-US" sz="1400" dirty="0"/>
          </a:p>
          <a:p>
            <a:pPr marL="0" indent="0">
              <a:buNone/>
            </a:pPr>
            <a:r>
              <a:rPr lang="en-US" sz="1400" dirty="0"/>
              <a:t>For deceased participants who retired under a Straight Life Annuity, replace the above with the following:</a:t>
            </a:r>
          </a:p>
          <a:p>
            <a:pPr marL="0" indent="0">
              <a:buNone/>
            </a:pPr>
            <a:endParaRPr lang="en-US" sz="1400" dirty="0"/>
          </a:p>
          <a:p>
            <a:pPr marL="0" indent="0">
              <a:buNone/>
            </a:pPr>
            <a:r>
              <a:rPr lang="en-US" sz="1400" b="1" dirty="0"/>
              <a:t>"Summary of Participant's Benefits</a:t>
            </a:r>
          </a:p>
          <a:p>
            <a:pPr marL="0" indent="0">
              <a:buNone/>
            </a:pPr>
            <a:endParaRPr lang="en-US" sz="1400" b="1" dirty="0"/>
          </a:p>
          <a:p>
            <a:pPr marL="0" indent="0">
              <a:buNone/>
            </a:pPr>
            <a:r>
              <a:rPr lang="en-US" sz="1400" b="1" dirty="0"/>
              <a:t>									</a:t>
            </a:r>
          </a:p>
          <a:p>
            <a:pPr marL="0" indent="0">
              <a:buNone/>
            </a:pPr>
            <a:r>
              <a:rPr lang="en-US" sz="1400" b="1" dirty="0"/>
              <a:t>						</a:t>
            </a:r>
          </a:p>
          <a:p>
            <a:pPr marL="0" indent="0">
              <a:buNone/>
            </a:pPr>
            <a:r>
              <a:rPr lang="en-US" sz="1400" b="1" dirty="0"/>
              <a:t>					</a:t>
            </a:r>
          </a:p>
          <a:p>
            <a:pPr marL="0" indent="0">
              <a:buNone/>
            </a:pPr>
            <a:endParaRPr lang="en-US" sz="1400" b="1" dirty="0"/>
          </a:p>
          <a:p>
            <a:pPr marL="0" indent="0">
              <a:buNone/>
            </a:pPr>
            <a:endParaRPr lang="en-US" sz="1400" b="1" dirty="0"/>
          </a:p>
          <a:p>
            <a:pPr marL="0" indent="0">
              <a:buNone/>
            </a:pPr>
            <a:endParaRPr lang="en-US" sz="1400" b="1" dirty="0"/>
          </a:p>
          <a:p>
            <a:pPr marL="0" indent="0">
              <a:buNone/>
            </a:pPr>
            <a:r>
              <a:rPr lang="en-US" sz="1400" b="1" dirty="0">
                <a:latin typeface="Calibri" panose="020F0502020204030204" pitchFamily="34" charset="0"/>
                <a:ea typeface="Calibri" panose="020F0502020204030204" pitchFamily="34" charset="0"/>
                <a:cs typeface="Times New Roman" panose="02020603050405020304" pitchFamily="18" charset="0"/>
              </a:rPr>
              <a:t>Your current monthly benefit of $</a:t>
            </a:r>
            <a:r>
              <a:rPr lang="en-US" sz="1400" dirty="0">
                <a:latin typeface="Calibri" panose="020F0502020204030204" pitchFamily="34" charset="0"/>
                <a:ea typeface="Calibri" panose="020F0502020204030204" pitchFamily="34" charset="0"/>
                <a:cs typeface="Times New Roman" panose="02020603050405020304" pitchFamily="18" charset="0"/>
              </a:rPr>
              <a:t>&lt;&lt;0.00&gt;&gt;</a:t>
            </a:r>
            <a:r>
              <a:rPr lang="en-US" sz="1400" b="1" dirty="0">
                <a:latin typeface="Calibri" panose="020F0502020204030204" pitchFamily="34" charset="0"/>
                <a:ea typeface="Calibri" panose="020F0502020204030204" pitchFamily="34" charset="0"/>
                <a:cs typeface="Times New Roman" panose="02020603050405020304" pitchFamily="18" charset="0"/>
              </a:rPr>
              <a:t> will increase to $</a:t>
            </a:r>
            <a:r>
              <a:rPr lang="en-US" sz="1400" dirty="0">
                <a:latin typeface="Calibri" panose="020F0502020204030204" pitchFamily="34" charset="0"/>
                <a:ea typeface="Calibri" panose="020F0502020204030204" pitchFamily="34" charset="0"/>
                <a:cs typeface="Times New Roman" panose="02020603050405020304" pitchFamily="18" charset="0"/>
              </a:rPr>
              <a:t>&lt;&lt;0.00&gt;&gt;</a:t>
            </a:r>
            <a:r>
              <a:rPr lang="en-US" sz="1400" b="1" dirty="0">
                <a:latin typeface="Calibri" panose="020F0502020204030204" pitchFamily="34" charset="0"/>
                <a:ea typeface="Calibri" panose="020F0502020204030204" pitchFamily="34" charset="0"/>
                <a:cs typeface="Times New Roman" panose="02020603050405020304" pitchFamily="18" charset="0"/>
              </a:rPr>
              <a:t>. See the Benefit Calculation section for further details."</a:t>
            </a:r>
            <a:endParaRPr lang="en-US" sz="1400" b="1" dirty="0"/>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8</a:t>
            </a:fld>
            <a:endParaRPr lang="en-US" dirty="0"/>
          </a:p>
        </p:txBody>
      </p:sp>
      <p:graphicFrame>
        <p:nvGraphicFramePr>
          <p:cNvPr id="10" name="Table 10">
            <a:extLst>
              <a:ext uri="{FF2B5EF4-FFF2-40B4-BE49-F238E27FC236}">
                <a16:creationId xmlns:a16="http://schemas.microsoft.com/office/drawing/2014/main" id="{6CE55010-DED7-4275-A2E2-F9545994CE24}"/>
              </a:ext>
            </a:extLst>
          </p:cNvPr>
          <p:cNvGraphicFramePr>
            <a:graphicFrameLocks noGrp="1"/>
          </p:cNvGraphicFramePr>
          <p:nvPr>
            <p:extLst>
              <p:ext uri="{D42A27DB-BD31-4B8C-83A1-F6EECF244321}">
                <p14:modId xmlns:p14="http://schemas.microsoft.com/office/powerpoint/2010/main" val="2092378610"/>
              </p:ext>
            </p:extLst>
          </p:nvPr>
        </p:nvGraphicFramePr>
        <p:xfrm>
          <a:off x="485192" y="3048000"/>
          <a:ext cx="7497147" cy="1371600"/>
        </p:xfrm>
        <a:graphic>
          <a:graphicData uri="http://schemas.openxmlformats.org/drawingml/2006/table">
            <a:tbl>
              <a:tblPr firstRow="1" bandRow="1">
                <a:tableStyleId>{5C22544A-7EE6-4342-B048-85BDC9FD1C3A}</a:tableStyleId>
              </a:tblPr>
              <a:tblGrid>
                <a:gridCol w="5534608">
                  <a:extLst>
                    <a:ext uri="{9D8B030D-6E8A-4147-A177-3AD203B41FA5}">
                      <a16:colId xmlns:a16="http://schemas.microsoft.com/office/drawing/2014/main" val="804944076"/>
                    </a:ext>
                  </a:extLst>
                </a:gridCol>
                <a:gridCol w="1962539">
                  <a:extLst>
                    <a:ext uri="{9D8B030D-6E8A-4147-A177-3AD203B41FA5}">
                      <a16:colId xmlns:a16="http://schemas.microsoft.com/office/drawing/2014/main" val="979425065"/>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Actual Retirement Date (ARD):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Current Estimated Monthly Benefit before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Current Estimated Monthly Benefit on and after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PBGC Monthly Benefit at DOPT/ARD before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PBGC Monthly Benefit at DOPT/ARD on and after </a:t>
                      </a: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r>
                        <a:rPr kumimoji="0" lang="en-US" sz="1400" b="1" i="0" u="none" strike="noStrike" kern="1200" cap="none" spc="0" normalizeH="0" baseline="0" noProof="0" dirty="0">
                          <a:ln>
                            <a:noFill/>
                          </a:ln>
                          <a:solidFill>
                            <a:prstClr val="black"/>
                          </a:solidFill>
                          <a:effectLst/>
                          <a:uLnTx/>
                          <a:uFillTx/>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Form of Annuity:</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&lt;&lt;mm/dd/</a:t>
                      </a:r>
                      <a:r>
                        <a:rPr kumimoji="0" lang="en-US" sz="1400" b="0" i="0" u="none" strike="noStrike" kern="1200" cap="none" spc="0" normalizeH="0" baseline="0" noProof="0" dirty="0" err="1">
                          <a:ln>
                            <a:noFill/>
                          </a:ln>
                          <a:solidFill>
                            <a:prstClr val="black"/>
                          </a:solidFill>
                          <a:effectLst/>
                          <a:uLnTx/>
                          <a:uFillTx/>
                          <a:latin typeface="+mn-lt"/>
                          <a:ea typeface="+mn-ea"/>
                          <a:cs typeface="+mn-cs"/>
                        </a:rPr>
                        <a:t>yyyy</a:t>
                      </a:r>
                      <a:r>
                        <a:rPr kumimoji="0" lang="en-US" sz="1400" b="0" i="0" u="none" strike="noStrike" kern="1200" cap="none" spc="0" normalizeH="0" baseline="0" noProof="0" dirty="0">
                          <a:ln>
                            <a:noFill/>
                          </a:ln>
                          <a:solidFill>
                            <a:prstClr val="black"/>
                          </a:solidFill>
                          <a:effectLst/>
                          <a:uLnTx/>
                          <a:uFillTx/>
                          <a:latin typeface="+mn-lt"/>
                          <a:ea typeface="+mn-ea"/>
                          <a:cs typeface="+mn-cs"/>
                        </a:rPr>
                        <a:t>&gt;&gt;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$&lt;&lt;0.00&gt;&gt;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Straight Life Annuity</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5706174"/>
                  </a:ext>
                </a:extLst>
              </a:tr>
            </a:tbl>
          </a:graphicData>
        </a:graphic>
      </p:graphicFrame>
    </p:spTree>
    <p:extLst>
      <p:ext uri="{BB962C8B-B14F-4D97-AF65-F5344CB8AC3E}">
        <p14:creationId xmlns:p14="http://schemas.microsoft.com/office/powerpoint/2010/main" val="1393538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87680" y="1409700"/>
            <a:ext cx="8229600" cy="4533900"/>
          </a:xfrm>
        </p:spPr>
        <p:txBody>
          <a:bodyPr/>
          <a:lstStyle/>
          <a:p>
            <a:r>
              <a:rPr lang="en-US" sz="2600" dirty="0"/>
              <a:t>Identical changes made to the following sections for Beneficiaries in Pay (Receiving Benefits at BDL-issuance):</a:t>
            </a:r>
          </a:p>
          <a:p>
            <a:pPr lvl="1"/>
            <a:r>
              <a:rPr lang="en-US" sz="2600" dirty="0">
                <a:latin typeface="Calibri" panose="020F0502020204030204" pitchFamily="34" charset="0"/>
                <a:ea typeface="Calibri" panose="020F0502020204030204" pitchFamily="34" charset="0"/>
                <a:cs typeface="Times New Roman" panose="02020603050405020304" pitchFamily="18" charset="0"/>
              </a:rPr>
              <a:t>I.B.3.c.i</a:t>
            </a:r>
          </a:p>
          <a:p>
            <a:pPr lvl="1"/>
            <a:r>
              <a:rPr lang="en-US" sz="2600" dirty="0">
                <a:latin typeface="Calibri" panose="020F0502020204030204" pitchFamily="34" charset="0"/>
                <a:ea typeface="Calibri" panose="020F0502020204030204" pitchFamily="34" charset="0"/>
                <a:cs typeface="Times New Roman" panose="02020603050405020304" pitchFamily="18" charset="0"/>
              </a:rPr>
              <a:t>I.B.3.c.ii</a:t>
            </a:r>
          </a:p>
          <a:p>
            <a:pPr lvl="1"/>
            <a:r>
              <a:rPr lang="en-US" sz="2600" dirty="0">
                <a:latin typeface="Calibri" panose="020F0502020204030204" pitchFamily="34" charset="0"/>
                <a:ea typeface="Calibri" panose="020F0502020204030204" pitchFamily="34" charset="0"/>
                <a:cs typeface="Times New Roman" panose="02020603050405020304" pitchFamily="18" charset="0"/>
              </a:rPr>
              <a:t>I.B.3.c.iii</a:t>
            </a:r>
          </a:p>
          <a:p>
            <a:pPr lvl="1"/>
            <a:r>
              <a:rPr lang="en-US" sz="2600" dirty="0">
                <a:latin typeface="Calibri" panose="020F0502020204030204" pitchFamily="34" charset="0"/>
                <a:ea typeface="Calibri" panose="020F0502020204030204" pitchFamily="34" charset="0"/>
                <a:cs typeface="Times New Roman" panose="02020603050405020304" pitchFamily="18" charset="0"/>
              </a:rPr>
              <a:t>I.B.3.c.iv</a:t>
            </a:r>
          </a:p>
          <a:p>
            <a:r>
              <a:rPr lang="en-US" sz="2600" dirty="0"/>
              <a:t>Appropriate paragraph would be used for beneficiaries who were receiving benefits but are deceased at BDL Issuance.</a:t>
            </a:r>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9</a:t>
            </a:fld>
            <a:endParaRPr lang="en-US" dirty="0"/>
          </a:p>
        </p:txBody>
      </p:sp>
    </p:spTree>
    <p:extLst>
      <p:ext uri="{BB962C8B-B14F-4D97-AF65-F5344CB8AC3E}">
        <p14:creationId xmlns:p14="http://schemas.microsoft.com/office/powerpoint/2010/main" val="2086104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57200" y="1600201"/>
            <a:ext cx="8229600" cy="4343400"/>
          </a:xfrm>
        </p:spPr>
        <p:txBody>
          <a:bodyPr/>
          <a:lstStyle/>
          <a:p>
            <a:pPr marL="0" indent="0">
              <a:buNone/>
            </a:pPr>
            <a:r>
              <a:rPr lang="en-US" sz="2400" dirty="0"/>
              <a:t>When a payee’s estimated benefit changes from an amount greater than $1 per month to an amount equal to $1 or less per month at the final benefit determination stage, the payee goes from receiving an estimated monthly benefit to an annual benefit.  In the vice versa situation, the payee would be receiving their estimated benefit as an annual payment and at the final benefit determination stage, they would be switched to receiving a monthly benefit. See Policy 5.4-3 Frequency of Benefits Payments for more details.</a:t>
            </a:r>
          </a:p>
          <a:p>
            <a:pPr marL="0" indent="0">
              <a:buNone/>
            </a:pPr>
            <a:endParaRPr lang="en-US" sz="2400" dirty="0"/>
          </a:p>
          <a:p>
            <a:pPr marL="0" indent="0">
              <a:buNone/>
            </a:pPr>
            <a:r>
              <a:rPr lang="en-US" sz="2400" dirty="0"/>
              <a:t>  </a:t>
            </a:r>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10</a:t>
            </a:fld>
            <a:endParaRPr lang="en-US" dirty="0"/>
          </a:p>
        </p:txBody>
      </p:sp>
    </p:spTree>
    <p:extLst>
      <p:ext uri="{BB962C8B-B14F-4D97-AF65-F5344CB8AC3E}">
        <p14:creationId xmlns:p14="http://schemas.microsoft.com/office/powerpoint/2010/main" val="3466434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87680" y="1409700"/>
            <a:ext cx="8229600" cy="4533900"/>
          </a:xfrm>
        </p:spPr>
        <p:txBody>
          <a:bodyPr/>
          <a:lstStyle/>
          <a:p>
            <a:r>
              <a:rPr lang="en-US" sz="2200" dirty="0"/>
              <a:t>To ATM Section I.B.3.a.iii, added an update to the Additional Guidance:</a:t>
            </a:r>
            <a:endParaRPr lang="en-US" sz="2200" dirty="0">
              <a:latin typeface="Calibri" panose="020F0502020204030204" pitchFamily="34" charset="0"/>
              <a:ea typeface="Calibri" panose="020F0502020204030204" pitchFamily="34" charset="0"/>
              <a:cs typeface="Times New Roman" panose="02020603050405020304" pitchFamily="18" charset="0"/>
            </a:endParaRPr>
          </a:p>
          <a:p>
            <a:pPr marL="114300" marR="0" indent="0">
              <a:lnSpc>
                <a:spcPct val="107000"/>
              </a:lnSpc>
              <a:spcBef>
                <a:spcPts val="0"/>
              </a:spcBef>
              <a:spcAft>
                <a:spcPts val="800"/>
              </a:spcAft>
              <a:buNone/>
            </a:pPr>
            <a:endParaRPr lang="en-US" sz="2200" dirty="0">
              <a:latin typeface="Calibri" panose="020F0502020204030204" pitchFamily="34" charset="0"/>
              <a:ea typeface="Calibri" panose="020F0502020204030204" pitchFamily="34" charset="0"/>
              <a:cs typeface="Times New Roman" panose="02020603050405020304" pitchFamily="18" charset="0"/>
            </a:endParaRPr>
          </a:p>
          <a:p>
            <a:pPr marL="114300" marR="0" indent="0">
              <a:lnSpc>
                <a:spcPct val="107000"/>
              </a:lnSpc>
              <a:spcBef>
                <a:spcPts val="0"/>
              </a:spcBef>
              <a:spcAft>
                <a:spcPts val="800"/>
              </a:spcAft>
              <a:buNone/>
            </a:pPr>
            <a:r>
              <a:rPr lang="en-US" sz="2200" dirty="0">
                <a:latin typeface="Calibri" panose="020F0502020204030204" pitchFamily="34" charset="0"/>
                <a:ea typeface="Calibri" panose="020F0502020204030204" pitchFamily="34" charset="0"/>
                <a:cs typeface="Times New Roman" panose="02020603050405020304" pitchFamily="18" charset="0"/>
              </a:rPr>
              <a:t>When the estimated monthly benefit changes to an annual benefit (i.e. payee’s final benefit determination is $1 or less per month), replace the above paragraph with:</a:t>
            </a:r>
          </a:p>
          <a:p>
            <a:pPr marL="0" indent="0">
              <a:buNone/>
            </a:pPr>
            <a:r>
              <a:rPr lang="en-US" sz="2200" b="1" dirty="0">
                <a:latin typeface="Calibri" panose="020F0502020204030204" pitchFamily="34" charset="0"/>
                <a:ea typeface="Calibri" panose="020F0502020204030204" pitchFamily="34" charset="0"/>
                <a:cs typeface="Times New Roman" panose="02020603050405020304" pitchFamily="18" charset="0"/>
              </a:rPr>
              <a:t>“Your current monthly benefit of</a:t>
            </a:r>
            <a:r>
              <a:rPr lang="en-US" sz="2200" dirty="0">
                <a:latin typeface="Calibri" panose="020F0502020204030204" pitchFamily="34" charset="0"/>
                <a:ea typeface="Calibri" panose="020F0502020204030204" pitchFamily="34" charset="0"/>
                <a:cs typeface="Times New Roman" panose="02020603050405020304" pitchFamily="18" charset="0"/>
              </a:rPr>
              <a:t> $&lt;&lt;0.00&gt;&gt; </a:t>
            </a:r>
            <a:r>
              <a:rPr lang="en-US" sz="2200" b="1" dirty="0">
                <a:latin typeface="Calibri" panose="020F0502020204030204" pitchFamily="34" charset="0"/>
                <a:ea typeface="Calibri" panose="020F0502020204030204" pitchFamily="34" charset="0"/>
                <a:cs typeface="Times New Roman" panose="02020603050405020304" pitchFamily="18" charset="0"/>
              </a:rPr>
              <a:t>will decrease to</a:t>
            </a:r>
            <a:r>
              <a:rPr lang="en-US" sz="2200" dirty="0">
                <a:latin typeface="Calibri" panose="020F0502020204030204" pitchFamily="34" charset="0"/>
                <a:ea typeface="Calibri" panose="020F0502020204030204" pitchFamily="34" charset="0"/>
                <a:cs typeface="Times New Roman" panose="02020603050405020304" pitchFamily="18" charset="0"/>
              </a:rPr>
              <a:t> $&lt;&lt;0.00&gt;&gt; [Explain reason in simple terms. </a:t>
            </a:r>
            <a:r>
              <a:rPr lang="en-US" sz="2200" i="1" dirty="0">
                <a:latin typeface="Calibri" panose="020F0502020204030204" pitchFamily="34" charset="0"/>
                <a:ea typeface="Calibri" panose="020F0502020204030204" pitchFamily="34" charset="0"/>
                <a:cs typeface="Times New Roman" panose="02020603050405020304" pitchFamily="18" charset="0"/>
              </a:rPr>
              <a:t>See below for examples</a:t>
            </a:r>
            <a:r>
              <a:rPr lang="en-US" sz="2200" dirty="0">
                <a:latin typeface="Calibri" panose="020F0502020204030204" pitchFamily="34" charset="0"/>
                <a:ea typeface="Calibri" panose="020F0502020204030204" pitchFamily="34" charset="0"/>
                <a:cs typeface="Times New Roman" panose="02020603050405020304" pitchFamily="18" charset="0"/>
              </a:rPr>
              <a:t>.]. </a:t>
            </a:r>
            <a:r>
              <a:rPr lang="en-US" sz="2200" b="1" dirty="0">
                <a:latin typeface="Calibri" panose="020F0502020204030204" pitchFamily="34" charset="0"/>
                <a:ea typeface="Calibri" panose="020F0502020204030204" pitchFamily="34" charset="0"/>
                <a:cs typeface="Times New Roman" panose="02020603050405020304" pitchFamily="18" charset="0"/>
              </a:rPr>
              <a:t>Because your monthly benefit is now less than $1 per month, PBGC will now pay your benefit on an annual basis rather than monthly.  Instead of receiving</a:t>
            </a:r>
            <a:r>
              <a:rPr lang="en-US" sz="2200" dirty="0">
                <a:latin typeface="Calibri" panose="020F0502020204030204" pitchFamily="34" charset="0"/>
                <a:ea typeface="Calibri" panose="020F0502020204030204" pitchFamily="34" charset="0"/>
                <a:cs typeface="Times New Roman" panose="02020603050405020304" pitchFamily="18" charset="0"/>
              </a:rPr>
              <a:t> $&lt;&lt;0.00&gt;&gt;, </a:t>
            </a:r>
            <a:r>
              <a:rPr lang="en-US" sz="2200" b="1" dirty="0">
                <a:latin typeface="Calibri" panose="020F0502020204030204" pitchFamily="34" charset="0"/>
                <a:ea typeface="Calibri" panose="020F0502020204030204" pitchFamily="34" charset="0"/>
                <a:cs typeface="Times New Roman" panose="02020603050405020304" pitchFamily="18" charset="0"/>
              </a:rPr>
              <a:t>you will receive</a:t>
            </a:r>
            <a:r>
              <a:rPr lang="en-US" sz="2200" dirty="0">
                <a:latin typeface="Calibri" panose="020F0502020204030204" pitchFamily="34" charset="0"/>
                <a:ea typeface="Calibri" panose="020F0502020204030204" pitchFamily="34" charset="0"/>
                <a:cs typeface="Times New Roman" panose="02020603050405020304" pitchFamily="18" charset="0"/>
              </a:rPr>
              <a:t> $&lt;&lt;0.00&gt;&gt; [Insert annual amount].  </a:t>
            </a:r>
            <a:r>
              <a:rPr lang="en-US" sz="2200" b="1" dirty="0">
                <a:latin typeface="Calibri" panose="020F0502020204030204" pitchFamily="34" charset="0"/>
                <a:ea typeface="Calibri" panose="020F0502020204030204" pitchFamily="34" charset="0"/>
                <a:cs typeface="Times New Roman" panose="02020603050405020304" pitchFamily="18" charset="0"/>
              </a:rPr>
              <a:t>See the Benefit Calculation section for further details."</a:t>
            </a:r>
            <a:endParaRPr lang="en-US" sz="2200" dirty="0"/>
          </a:p>
          <a:p>
            <a:endParaRPr lang="en-US" dirty="0"/>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11</a:t>
            </a:fld>
            <a:endParaRPr lang="en-US" dirty="0"/>
          </a:p>
        </p:txBody>
      </p:sp>
    </p:spTree>
    <p:extLst>
      <p:ext uri="{BB962C8B-B14F-4D97-AF65-F5344CB8AC3E}">
        <p14:creationId xmlns:p14="http://schemas.microsoft.com/office/powerpoint/2010/main" val="3399822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87680" y="1409700"/>
            <a:ext cx="8229600" cy="4533900"/>
          </a:xfrm>
        </p:spPr>
        <p:txBody>
          <a:bodyPr/>
          <a:lstStyle/>
          <a:p>
            <a:r>
              <a:rPr lang="en-US" sz="2100" dirty="0"/>
              <a:t>To ATM Section I.B.3.a.iv, added Additional Guidance:</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114300" marR="0" indent="0">
              <a:lnSpc>
                <a:spcPct val="107000"/>
              </a:lnSpc>
              <a:spcBef>
                <a:spcPts val="0"/>
              </a:spcBef>
              <a:spcAft>
                <a:spcPts val="800"/>
              </a:spcAft>
              <a:buNone/>
            </a:pPr>
            <a:r>
              <a:rPr lang="en-US" sz="2100" dirty="0">
                <a:latin typeface="Calibri" panose="020F0502020204030204" pitchFamily="34" charset="0"/>
                <a:ea typeface="Calibri" panose="020F0502020204030204" pitchFamily="34" charset="0"/>
                <a:cs typeface="Times New Roman" panose="02020603050405020304" pitchFamily="18" charset="0"/>
              </a:rPr>
              <a:t>When the estimated annual benefit changes to a monthly benefit (i.e. payee’s final benefit determination is more than $1 per month), replace the above paragraph with:</a:t>
            </a:r>
          </a:p>
          <a:p>
            <a:pPr marL="0" indent="0">
              <a:buNone/>
            </a:pPr>
            <a:r>
              <a:rPr lang="en-US" sz="2100" b="1" dirty="0">
                <a:latin typeface="Calibri" panose="020F0502020204030204" pitchFamily="34" charset="0"/>
                <a:ea typeface="Calibri" panose="020F0502020204030204" pitchFamily="34" charset="0"/>
                <a:cs typeface="Times New Roman" panose="02020603050405020304" pitchFamily="18" charset="0"/>
              </a:rPr>
              <a:t>“Your current monthly benefit of </a:t>
            </a:r>
            <a:r>
              <a:rPr lang="en-US" sz="2100" dirty="0">
                <a:latin typeface="Calibri" panose="020F0502020204030204" pitchFamily="34" charset="0"/>
                <a:ea typeface="Calibri" panose="020F0502020204030204" pitchFamily="34" charset="0"/>
                <a:cs typeface="Times New Roman" panose="02020603050405020304" pitchFamily="18" charset="0"/>
              </a:rPr>
              <a:t>$&lt;&lt;0.00&gt;&gt;</a:t>
            </a:r>
            <a:r>
              <a:rPr lang="en-US" sz="2100" b="1" dirty="0">
                <a:latin typeface="Calibri" panose="020F0502020204030204" pitchFamily="34" charset="0"/>
                <a:ea typeface="Calibri" panose="020F0502020204030204" pitchFamily="34" charset="0"/>
                <a:cs typeface="Times New Roman" panose="02020603050405020304" pitchFamily="18" charset="0"/>
              </a:rPr>
              <a:t> will increase to </a:t>
            </a:r>
            <a:r>
              <a:rPr lang="en-US" sz="2100" dirty="0">
                <a:latin typeface="Calibri" panose="020F0502020204030204" pitchFamily="34" charset="0"/>
                <a:ea typeface="Calibri" panose="020F0502020204030204" pitchFamily="34" charset="0"/>
                <a:cs typeface="Times New Roman" panose="02020603050405020304" pitchFamily="18" charset="0"/>
              </a:rPr>
              <a:t>$&lt;&lt;0.00&gt;&gt;</a:t>
            </a:r>
            <a:r>
              <a:rPr lang="en-US" sz="2100" b="1" dirty="0">
                <a:latin typeface="Calibri" panose="020F0502020204030204" pitchFamily="34" charset="0"/>
                <a:ea typeface="Calibri" panose="020F0502020204030204" pitchFamily="34" charset="0"/>
                <a:cs typeface="Times New Roman" panose="02020603050405020304" pitchFamily="18" charset="0"/>
              </a:rPr>
              <a:t>.  Because your estimated benefit was below our threshold for monthly payments, we have been paying your benefit on an annual basis.  Because your monthly benefit is now more than $1 per month, PBGC will now pay your benefit monthly rather than annually</a:t>
            </a:r>
            <a:r>
              <a:rPr lang="en-US" sz="2100" dirty="0">
                <a:latin typeface="Calibri" panose="020F0502020204030204" pitchFamily="34" charset="0"/>
                <a:ea typeface="Calibri" panose="020F0502020204030204" pitchFamily="34" charset="0"/>
                <a:cs typeface="Times New Roman" panose="02020603050405020304" pitchFamily="18" charset="0"/>
              </a:rPr>
              <a:t>. </a:t>
            </a:r>
            <a:r>
              <a:rPr lang="en-US" sz="2100" b="1" dirty="0">
                <a:latin typeface="Calibri" panose="020F0502020204030204" pitchFamily="34" charset="0"/>
                <a:ea typeface="Calibri" panose="020F0502020204030204" pitchFamily="34" charset="0"/>
                <a:cs typeface="Times New Roman" panose="02020603050405020304" pitchFamily="18" charset="0"/>
              </a:rPr>
              <a:t>Instead of receiving</a:t>
            </a:r>
            <a:r>
              <a:rPr lang="en-US" sz="2100" dirty="0">
                <a:latin typeface="Calibri" panose="020F0502020204030204" pitchFamily="34" charset="0"/>
                <a:ea typeface="Calibri" panose="020F0502020204030204" pitchFamily="34" charset="0"/>
                <a:cs typeface="Times New Roman" panose="02020603050405020304" pitchFamily="18" charset="0"/>
              </a:rPr>
              <a:t> $&lt;&lt;0.00&gt;&gt; [Insert annual amount], </a:t>
            </a:r>
            <a:r>
              <a:rPr lang="en-US" sz="2100" b="1" dirty="0">
                <a:latin typeface="Calibri" panose="020F0502020204030204" pitchFamily="34" charset="0"/>
                <a:ea typeface="Calibri" panose="020F0502020204030204" pitchFamily="34" charset="0"/>
                <a:cs typeface="Times New Roman" panose="02020603050405020304" pitchFamily="18" charset="0"/>
              </a:rPr>
              <a:t>you will receive</a:t>
            </a:r>
            <a:r>
              <a:rPr lang="en-US" sz="2100" dirty="0">
                <a:latin typeface="Calibri" panose="020F0502020204030204" pitchFamily="34" charset="0"/>
                <a:ea typeface="Calibri" panose="020F0502020204030204" pitchFamily="34" charset="0"/>
                <a:cs typeface="Times New Roman" panose="02020603050405020304" pitchFamily="18" charset="0"/>
              </a:rPr>
              <a:t> $&lt;&lt;0.00&gt;&gt;.  </a:t>
            </a:r>
            <a:r>
              <a:rPr lang="en-US" sz="2100" b="1" dirty="0">
                <a:latin typeface="Calibri" panose="020F0502020204030204" pitchFamily="34" charset="0"/>
                <a:ea typeface="Calibri" panose="020F0502020204030204" pitchFamily="34" charset="0"/>
                <a:cs typeface="Times New Roman" panose="02020603050405020304" pitchFamily="18" charset="0"/>
              </a:rPr>
              <a:t>See the Benefit Calculation section for further details."</a:t>
            </a:r>
            <a:endParaRPr lang="en-US" sz="2100" dirty="0"/>
          </a:p>
          <a:p>
            <a:endParaRPr lang="en-US" dirty="0"/>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12</a:t>
            </a:fld>
            <a:endParaRPr lang="en-US" dirty="0"/>
          </a:p>
        </p:txBody>
      </p:sp>
    </p:spTree>
    <p:extLst>
      <p:ext uri="{BB962C8B-B14F-4D97-AF65-F5344CB8AC3E}">
        <p14:creationId xmlns:p14="http://schemas.microsoft.com/office/powerpoint/2010/main" val="3071582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87680" y="1409700"/>
            <a:ext cx="8229600" cy="4533900"/>
          </a:xfrm>
        </p:spPr>
        <p:txBody>
          <a:bodyPr/>
          <a:lstStyle/>
          <a:p>
            <a:r>
              <a:rPr lang="en-US" dirty="0"/>
              <a:t>Identical changes made to the following sections for Beneficiaries in Pay (Receiving Benefits at BDL-issuance):</a:t>
            </a:r>
          </a:p>
          <a:p>
            <a:pPr lvl="1"/>
            <a:r>
              <a:rPr lang="en-US" sz="3200" dirty="0">
                <a:latin typeface="Calibri" panose="020F0502020204030204" pitchFamily="34" charset="0"/>
                <a:ea typeface="Calibri" panose="020F0502020204030204" pitchFamily="34" charset="0"/>
                <a:cs typeface="Times New Roman" panose="02020603050405020304" pitchFamily="18" charset="0"/>
              </a:rPr>
              <a:t>I.B.3.c.iii</a:t>
            </a:r>
          </a:p>
          <a:p>
            <a:pPr lvl="1"/>
            <a:r>
              <a:rPr lang="en-US" sz="3200" dirty="0">
                <a:latin typeface="Calibri" panose="020F0502020204030204" pitchFamily="34" charset="0"/>
                <a:ea typeface="Calibri" panose="020F0502020204030204" pitchFamily="34" charset="0"/>
                <a:cs typeface="Times New Roman" panose="02020603050405020304" pitchFamily="18" charset="0"/>
              </a:rPr>
              <a:t>I.B.3.c.iv</a:t>
            </a:r>
          </a:p>
          <a:p>
            <a:endParaRPr lang="en-US" dirty="0"/>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13</a:t>
            </a:fld>
            <a:endParaRPr lang="en-US" dirty="0"/>
          </a:p>
        </p:txBody>
      </p:sp>
    </p:spTree>
    <p:extLst>
      <p:ext uri="{BB962C8B-B14F-4D97-AF65-F5344CB8AC3E}">
        <p14:creationId xmlns:p14="http://schemas.microsoft.com/office/powerpoint/2010/main" val="167084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87680" y="1409700"/>
            <a:ext cx="8229600" cy="4533900"/>
          </a:xfrm>
        </p:spPr>
        <p:txBody>
          <a:bodyPr/>
          <a:lstStyle/>
          <a:p>
            <a:r>
              <a:rPr lang="en-US" sz="1600" dirty="0"/>
              <a:t>Updated Lump Sum section in ATM I.B.3.b and ATM I.B.3.d:</a:t>
            </a:r>
          </a:p>
          <a:p>
            <a:pPr lvl="1"/>
            <a:endParaRPr lang="en-US" sz="1600" dirty="0">
              <a:latin typeface="Calibri" panose="020F0502020204030204" pitchFamily="34" charset="0"/>
              <a:cs typeface="Times New Roman" panose="02020603050405020304" pitchFamily="18" charset="0"/>
            </a:endParaRPr>
          </a:p>
          <a:p>
            <a:pPr lvl="1"/>
            <a:r>
              <a:rPr lang="en-US" sz="1600" dirty="0">
                <a:latin typeface="Calibri" panose="020F0502020204030204" pitchFamily="34" charset="0"/>
                <a:cs typeface="Times New Roman" panose="02020603050405020304" pitchFamily="18" charset="0"/>
              </a:rPr>
              <a:t>Deleted “-OR-” preceding lump sum paragraph</a:t>
            </a:r>
          </a:p>
          <a:p>
            <a:pPr lvl="1"/>
            <a:endParaRPr lang="en-US" sz="1600" dirty="0">
              <a:latin typeface="Calibri" panose="020F0502020204030204" pitchFamily="34" charset="0"/>
              <a:cs typeface="Times New Roman" panose="02020603050405020304" pitchFamily="18" charset="0"/>
            </a:endParaRPr>
          </a:p>
          <a:p>
            <a:pPr lvl="1"/>
            <a:r>
              <a:rPr lang="en-US" sz="1600" dirty="0">
                <a:latin typeface="Calibri" panose="020F0502020204030204" pitchFamily="34" charset="0"/>
                <a:cs typeface="Times New Roman" panose="02020603050405020304" pitchFamily="18" charset="0"/>
              </a:rPr>
              <a:t>Updated relevant lump sum paragraph to:</a:t>
            </a:r>
          </a:p>
          <a:p>
            <a:pPr lvl="2"/>
            <a:r>
              <a:rPr lang="en-US" sz="1600" b="1" dirty="0">
                <a:latin typeface="Calibri" panose="020F0502020204030204" pitchFamily="34" charset="0"/>
                <a:cs typeface="Times New Roman" panose="02020603050405020304" pitchFamily="18" charset="0"/>
              </a:rPr>
              <a:t>“Instead of a monthly benefit, you may elect to receive the lump sum payment shown below. The lump sum payment equals the cost, as of the date of plan termination, of providing the monthly benefit, taking into account alternative retirement ages and forms of payment available to you. You may take your lump sum immediately, without waiting for your annuity starting date.”</a:t>
            </a:r>
          </a:p>
          <a:p>
            <a:pPr lvl="2"/>
            <a:r>
              <a:rPr lang="en-US" sz="1600" b="1" dirty="0"/>
              <a:t>“Instead of a monthly benefit, you may elect to receive the lump sum payment shown below. The lump sum payment equals the cost, as of the date of plan termination, of providing the beneficiary's monthly benefit. </a:t>
            </a:r>
            <a:r>
              <a:rPr lang="en-US" sz="1600" b="1" dirty="0">
                <a:latin typeface="Calibri" panose="020F0502020204030204" pitchFamily="34" charset="0"/>
                <a:cs typeface="Times New Roman" panose="02020603050405020304" pitchFamily="18" charset="0"/>
              </a:rPr>
              <a:t>You may take your lump sum immediately, without waiting for your annuity starting date.”</a:t>
            </a:r>
          </a:p>
          <a:p>
            <a:pPr marL="457200" lvl="1" indent="0">
              <a:buNone/>
            </a:pPr>
            <a:endParaRPr lang="en-US" sz="1600" b="1" dirty="0">
              <a:latin typeface="Calibri" panose="020F0502020204030204" pitchFamily="34" charset="0"/>
              <a:cs typeface="Times New Roman" panose="02020603050405020304" pitchFamily="18" charset="0"/>
            </a:endParaRPr>
          </a:p>
          <a:p>
            <a:pPr marL="457200" lvl="1" indent="0">
              <a:buNone/>
            </a:pPr>
            <a:r>
              <a:rPr lang="en-US" sz="1600" b="1" i="1" dirty="0">
                <a:latin typeface="Calibri" panose="020F0502020204030204" pitchFamily="34" charset="0"/>
                <a:cs typeface="Times New Roman" panose="02020603050405020304" pitchFamily="18" charset="0"/>
              </a:rPr>
              <a:t>Note:</a:t>
            </a:r>
            <a:r>
              <a:rPr lang="en-US" sz="1600" i="1" dirty="0">
                <a:latin typeface="Calibri" panose="020F0502020204030204" pitchFamily="34" charset="0"/>
                <a:cs typeface="Times New Roman" panose="02020603050405020304" pitchFamily="18" charset="0"/>
              </a:rPr>
              <a:t>  The last sentence in each sample above is not used for Case #5 under ATM I.B.3.d.v. because the beneficiary has no choice between taking an annuity or lump sum.</a:t>
            </a:r>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14</a:t>
            </a:fld>
            <a:endParaRPr lang="en-US" dirty="0"/>
          </a:p>
        </p:txBody>
      </p:sp>
    </p:spTree>
    <p:extLst>
      <p:ext uri="{BB962C8B-B14F-4D97-AF65-F5344CB8AC3E}">
        <p14:creationId xmlns:p14="http://schemas.microsoft.com/office/powerpoint/2010/main" val="3018062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87680" y="1409700"/>
            <a:ext cx="8229600" cy="4533900"/>
          </a:xfrm>
        </p:spPr>
        <p:txBody>
          <a:bodyPr/>
          <a:lstStyle/>
          <a:p>
            <a:r>
              <a:rPr lang="en-US" dirty="0"/>
              <a:t>Updated paragraphs in ATM I.B.3.d.v. and ATM I.B.3.e.i to:</a:t>
            </a:r>
            <a:endParaRPr lang="en-US" dirty="0">
              <a:latin typeface="Calibri" panose="020F0502020204030204" pitchFamily="34" charset="0"/>
              <a:cs typeface="Times New Roman" panose="02020603050405020304" pitchFamily="18" charset="0"/>
            </a:endParaRPr>
          </a:p>
          <a:p>
            <a:pPr marL="0" indent="0">
              <a:buNone/>
            </a:pP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3200" b="1" dirty="0">
                <a:latin typeface="Calibri" panose="020F0502020204030204" pitchFamily="34" charset="0"/>
                <a:ea typeface="Calibri" panose="020F0502020204030204" pitchFamily="34" charset="0"/>
                <a:cs typeface="Times New Roman" panose="02020603050405020304" pitchFamily="18" charset="0"/>
              </a:rPr>
              <a:t>“The monthly benefit shown below is the amount that would have been payable beginning</a:t>
            </a:r>
            <a:r>
              <a:rPr lang="en-US" sz="3200" dirty="0">
                <a:latin typeface="Calibri" panose="020F0502020204030204" pitchFamily="34" charset="0"/>
                <a:ea typeface="Calibri" panose="020F0502020204030204" pitchFamily="34" charset="0"/>
                <a:cs typeface="Times New Roman" panose="02020603050405020304" pitchFamily="18" charset="0"/>
              </a:rPr>
              <a:t> &lt;&lt;mm/dd/</a:t>
            </a:r>
            <a:r>
              <a:rPr lang="en-US" sz="3200" dirty="0" err="1">
                <a:latin typeface="Calibri" panose="020F0502020204030204" pitchFamily="34" charset="0"/>
                <a:ea typeface="Calibri" panose="020F0502020204030204" pitchFamily="34" charset="0"/>
                <a:cs typeface="Times New Roman" panose="02020603050405020304" pitchFamily="18" charset="0"/>
              </a:rPr>
              <a:t>yyyy</a:t>
            </a:r>
            <a:r>
              <a:rPr lang="en-US" sz="3200" dirty="0">
                <a:latin typeface="Calibri" panose="020F0502020204030204" pitchFamily="34" charset="0"/>
                <a:ea typeface="Calibri" panose="020F0502020204030204" pitchFamily="34" charset="0"/>
                <a:cs typeface="Times New Roman" panose="02020603050405020304" pitchFamily="18" charset="0"/>
              </a:rPr>
              <a:t>&gt;&gt; </a:t>
            </a:r>
            <a:r>
              <a:rPr lang="en-US" sz="3200" b="1" dirty="0">
                <a:latin typeface="Calibri" panose="020F0502020204030204" pitchFamily="34" charset="0"/>
                <a:ea typeface="Calibri" panose="020F0502020204030204" pitchFamily="34" charset="0"/>
                <a:cs typeface="Times New Roman" panose="02020603050405020304" pitchFamily="18" charset="0"/>
              </a:rPr>
              <a:t>as a</a:t>
            </a:r>
            <a:r>
              <a:rPr lang="en-US" sz="3200" dirty="0">
                <a:latin typeface="Calibri" panose="020F0502020204030204" pitchFamily="34" charset="0"/>
                <a:ea typeface="Calibri" panose="020F0502020204030204" pitchFamily="34" charset="0"/>
                <a:cs typeface="Times New Roman" panose="02020603050405020304" pitchFamily="18" charset="0"/>
              </a:rPr>
              <a:t> &lt;&lt;plan’s NSF&gt;&gt;</a:t>
            </a:r>
            <a:r>
              <a:rPr lang="en-US" sz="3200" b="1" dirty="0">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15</a:t>
            </a:fld>
            <a:endParaRPr lang="en-US" dirty="0"/>
          </a:p>
        </p:txBody>
      </p:sp>
    </p:spTree>
    <p:extLst>
      <p:ext uri="{BB962C8B-B14F-4D97-AF65-F5344CB8AC3E}">
        <p14:creationId xmlns:p14="http://schemas.microsoft.com/office/powerpoint/2010/main" val="2663334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sz="4800" dirty="0"/>
              <a:t>ATM Section I.B.3 (Cont.)</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87680" y="1409700"/>
            <a:ext cx="8229600" cy="4533900"/>
          </a:xfrm>
        </p:spPr>
        <p:txBody>
          <a:bodyPr/>
          <a:lstStyle/>
          <a:p>
            <a:r>
              <a:rPr lang="en-US" sz="2800" dirty="0"/>
              <a:t>Updated paragraph in ATM I.B.3.e.i To the Estate of to:</a:t>
            </a:r>
            <a:endParaRPr lang="en-US" sz="2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8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b="1" dirty="0">
                <a:latin typeface="Calibri" panose="020F0502020204030204" pitchFamily="34" charset="0"/>
                <a:ea typeface="Calibri" panose="020F0502020204030204" pitchFamily="34" charset="0"/>
                <a:cs typeface="Times New Roman" panose="02020603050405020304" pitchFamily="18" charset="0"/>
              </a:rPr>
              <a:t>“Instead of a monthly benefit, the estate or beneficiary of </a:t>
            </a:r>
            <a:r>
              <a:rPr lang="en-US" sz="2800" dirty="0">
                <a:latin typeface="Calibri" panose="020F0502020204030204" pitchFamily="34" charset="0"/>
                <a:ea typeface="Calibri" panose="020F0502020204030204" pitchFamily="34" charset="0"/>
                <a:cs typeface="Times New Roman" panose="02020603050405020304" pitchFamily="18" charset="0"/>
              </a:rPr>
              <a:t>&lt;&lt;insert participant's name&gt;&gt; </a:t>
            </a:r>
            <a:r>
              <a:rPr lang="en-US" sz="2800" b="1" dirty="0">
                <a:latin typeface="Calibri" panose="020F0502020204030204" pitchFamily="34" charset="0"/>
                <a:ea typeface="Calibri" panose="020F0502020204030204" pitchFamily="34" charset="0"/>
                <a:cs typeface="Times New Roman" panose="02020603050405020304" pitchFamily="18" charset="0"/>
              </a:rPr>
              <a:t>will receive the lump sum payment shown below. The lump sum payment equals the cost, as of the date of plan termination, of providing the monthly benefit.”</a:t>
            </a:r>
          </a:p>
          <a:p>
            <a:endParaRPr lang="en-US" dirty="0"/>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16</a:t>
            </a:fld>
            <a:endParaRPr lang="en-US" dirty="0"/>
          </a:p>
        </p:txBody>
      </p:sp>
    </p:spTree>
    <p:extLst>
      <p:ext uri="{BB962C8B-B14F-4D97-AF65-F5344CB8AC3E}">
        <p14:creationId xmlns:p14="http://schemas.microsoft.com/office/powerpoint/2010/main" val="624977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DFCE-B659-43A3-9827-0E081FD28D30}"/>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2ACE7E04-1328-46DE-B12E-BF2D7F0B4CFF}"/>
              </a:ext>
            </a:extLst>
          </p:cNvPr>
          <p:cNvSpPr>
            <a:spLocks noGrp="1"/>
          </p:cNvSpPr>
          <p:nvPr>
            <p:ph idx="1"/>
          </p:nvPr>
        </p:nvSpPr>
        <p:spPr>
          <a:xfrm>
            <a:off x="457200" y="1223554"/>
            <a:ext cx="8229600" cy="4643846"/>
          </a:xfrm>
        </p:spPr>
        <p:txBody>
          <a:bodyPr/>
          <a:lstStyle/>
          <a:p>
            <a:pPr>
              <a:lnSpc>
                <a:spcPct val="107000"/>
              </a:lnSpc>
              <a:spcBef>
                <a:spcPts val="0"/>
              </a:spcBef>
              <a:spcAft>
                <a:spcPts val="800"/>
              </a:spcAft>
            </a:pPr>
            <a:r>
              <a:rPr lang="en-US" sz="2800" b="1" i="1" dirty="0">
                <a:latin typeface="Calibri" panose="020F0502020204030204" pitchFamily="34" charset="0"/>
                <a:ea typeface="Calibri" panose="020F0502020204030204" pitchFamily="34" charset="0"/>
                <a:cs typeface="Times New Roman" panose="02020603050405020304" pitchFamily="18" charset="0"/>
              </a:rPr>
              <a:t>OBA Actuarial Technical Manual:</a:t>
            </a:r>
          </a:p>
          <a:p>
            <a:pPr lvl="1">
              <a:lnSpc>
                <a:spcPct val="107000"/>
              </a:lnSpc>
              <a:spcBef>
                <a:spcPts val="0"/>
              </a:spcBef>
              <a:spcAft>
                <a:spcPts val="800"/>
              </a:spcAft>
            </a:pPr>
            <a:r>
              <a:rPr lang="en-US" sz="2400" b="1" i="1" dirty="0">
                <a:latin typeface="Calibri" panose="020F0502020204030204" pitchFamily="34" charset="0"/>
                <a:ea typeface="Calibri" panose="020F0502020204030204" pitchFamily="34" charset="0"/>
                <a:cs typeface="Times New Roman" panose="02020603050405020304" pitchFamily="18" charset="0"/>
              </a:rPr>
              <a:t>Section I.B. Benefit Statement Guidance</a:t>
            </a:r>
          </a:p>
          <a:p>
            <a:pPr>
              <a:lnSpc>
                <a:spcPct val="107000"/>
              </a:lnSpc>
              <a:spcBef>
                <a:spcPts val="0"/>
              </a:spcBef>
              <a:spcAft>
                <a:spcPts val="800"/>
              </a:spcAft>
            </a:pPr>
            <a:endParaRPr lang="en-US" sz="2800" b="1" i="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800"/>
              </a:spcAft>
            </a:pPr>
            <a:r>
              <a:rPr lang="en-US" sz="2800" b="1" i="1" dirty="0">
                <a:latin typeface="Calibri" panose="020F0502020204030204" pitchFamily="34" charset="0"/>
                <a:ea typeface="Calibri" panose="020F0502020204030204" pitchFamily="34" charset="0"/>
                <a:cs typeface="Times New Roman" panose="02020603050405020304" pitchFamily="18" charset="0"/>
              </a:rPr>
              <a:t>PBGC Operating Policy Manual:</a:t>
            </a:r>
          </a:p>
          <a:p>
            <a:pPr lvl="1">
              <a:lnSpc>
                <a:spcPct val="107000"/>
              </a:lnSpc>
              <a:spcBef>
                <a:spcPts val="0"/>
              </a:spcBef>
              <a:spcAft>
                <a:spcPts val="800"/>
              </a:spcAft>
            </a:pPr>
            <a:r>
              <a:rPr lang="en-US" sz="2400" b="1" i="1" dirty="0">
                <a:latin typeface="Calibri" panose="020F0502020204030204" pitchFamily="34" charset="0"/>
                <a:ea typeface="Calibri" panose="020F0502020204030204" pitchFamily="34" charset="0"/>
                <a:cs typeface="Times New Roman" panose="02020603050405020304" pitchFamily="18" charset="0"/>
              </a:rPr>
              <a:t>Policy 5.4-3 Frequency of Benefits Payments</a:t>
            </a: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8D7040E-2431-44C8-B2E0-5D18F79E3D85}"/>
              </a:ext>
            </a:extLst>
          </p:cNvPr>
          <p:cNvSpPr>
            <a:spLocks noGrp="1"/>
          </p:cNvSpPr>
          <p:nvPr>
            <p:ph type="sldNum" sz="quarter" idx="12"/>
          </p:nvPr>
        </p:nvSpPr>
        <p:spPr/>
        <p:txBody>
          <a:bodyPr/>
          <a:lstStyle/>
          <a:p>
            <a:pPr>
              <a:defRPr/>
            </a:pPr>
            <a:fld id="{920BCC9A-C72B-4004-AD74-D0F250D747EF}" type="slidenum">
              <a:rPr lang="en-US" smtClean="0"/>
              <a:pPr>
                <a:defRPr/>
              </a:pPr>
              <a:t>17</a:t>
            </a:fld>
            <a:endParaRPr lang="en-US" dirty="0"/>
          </a:p>
        </p:txBody>
      </p:sp>
    </p:spTree>
    <p:extLst>
      <p:ext uri="{BB962C8B-B14F-4D97-AF65-F5344CB8AC3E}">
        <p14:creationId xmlns:p14="http://schemas.microsoft.com/office/powerpoint/2010/main" val="2653391051"/>
      </p:ext>
    </p:extLst>
  </p:cSld>
  <p:clrMapOvr>
    <a:masterClrMapping/>
  </p:clrMapOvr>
</p:sld>
</file>

<file path=ppt/theme/theme1.xml><?xml version="1.0" encoding="utf-8"?>
<a:theme xmlns:a="http://schemas.openxmlformats.org/drawingml/2006/main" name="Echo">
  <a:themeElements>
    <a:clrScheme name="Custom 1">
      <a:dk1>
        <a:srgbClr val="000000"/>
      </a:dk1>
      <a:lt1>
        <a:srgbClr val="000000"/>
      </a:lt1>
      <a:dk2>
        <a:srgbClr val="FFFFFF"/>
      </a:dk2>
      <a:lt2>
        <a:srgbClr val="000000"/>
      </a:lt2>
      <a:accent1>
        <a:srgbClr val="00B0F0"/>
      </a:accent1>
      <a:accent2>
        <a:srgbClr val="72A376"/>
      </a:accent2>
      <a:accent3>
        <a:srgbClr val="A8CDD7"/>
      </a:accent3>
      <a:accent4>
        <a:srgbClr val="C0BEAF"/>
      </a:accent4>
      <a:accent5>
        <a:srgbClr val="CEC597"/>
      </a:accent5>
      <a:accent6>
        <a:srgbClr val="E8B7B7"/>
      </a:accent6>
      <a:hlink>
        <a:srgbClr val="DB5353"/>
      </a:hlink>
      <a:folHlink>
        <a:srgbClr val="903638"/>
      </a:folHlink>
    </a:clrScheme>
    <a:fontScheme name="Ech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red white and blu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33EB8E5A905147A736C24DF8DBDF17" ma:contentTypeVersion="43" ma:contentTypeDescription="Create a new document." ma:contentTypeScope="" ma:versionID="cc8586ddf7d65eb489f6769161110e6d">
  <xsd:schema xmlns:xsd="http://www.w3.org/2001/XMLSchema" xmlns:xs="http://www.w3.org/2001/XMLSchema" xmlns:p="http://schemas.microsoft.com/office/2006/metadata/properties" xmlns:ns2="eb2e944a-607d-46a9-8d14-3ad5ca54906b" xmlns:ns3="d1697eab-574d-40d9-a6fa-b3e6ab888596" targetNamespace="http://schemas.microsoft.com/office/2006/metadata/properties" ma:root="true" ma:fieldsID="4e80f997bf5a1626e4673ef0a5ddcf59" ns2:_="" ns3:_="">
    <xsd:import namespace="eb2e944a-607d-46a9-8d14-3ad5ca54906b"/>
    <xsd:import namespace="d1697eab-574d-40d9-a6fa-b3e6ab88859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2e944a-607d-46a9-8d14-3ad5ca54906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d1697eab-574d-40d9-a6fa-b3e6ab88859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dlc_DocId xmlns="eb2e944a-607d-46a9-8d14-3ad5ca54906b">3JK6HVEKWEFR-1699176978-5</_dlc_DocId>
    <_dlc_DocIdUrl xmlns="eb2e944a-607d-46a9-8d14-3ad5ca54906b">
      <Url>https://pbgcgov.sharepoint.com/OBA/_layouts/15/DocIdRedir.aspx?ID=3JK6HVEKWEFR-1699176978-5</Url>
      <Description>3JK6HVEKWEFR-1699176978-5</Description>
    </_dlc_DocIdUrl>
  </documentManagement>
</p:properties>
</file>

<file path=customXml/itemProps1.xml><?xml version="1.0" encoding="utf-8"?>
<ds:datastoreItem xmlns:ds="http://schemas.openxmlformats.org/officeDocument/2006/customXml" ds:itemID="{22808559-7CC9-4B71-A660-E685B16D1D2F}"/>
</file>

<file path=customXml/itemProps2.xml><?xml version="1.0" encoding="utf-8"?>
<ds:datastoreItem xmlns:ds="http://schemas.openxmlformats.org/officeDocument/2006/customXml" ds:itemID="{498A1816-6066-4816-9406-BBC8EB2ADEAC}"/>
</file>

<file path=customXml/itemProps3.xml><?xml version="1.0" encoding="utf-8"?>
<ds:datastoreItem xmlns:ds="http://schemas.openxmlformats.org/officeDocument/2006/customXml" ds:itemID="{0A9EC8AD-E07F-4BE4-AFDA-22D07459CCE0}"/>
</file>

<file path=customXml/itemProps4.xml><?xml version="1.0" encoding="utf-8"?>
<ds:datastoreItem xmlns:ds="http://schemas.openxmlformats.org/officeDocument/2006/customXml" ds:itemID="{AA78B784-3231-4868-B859-73881CC5CC86}"/>
</file>

<file path=docProps/app.xml><?xml version="1.0" encoding="utf-8"?>
<Properties xmlns="http://schemas.openxmlformats.org/officeDocument/2006/extended-properties" xmlns:vt="http://schemas.openxmlformats.org/officeDocument/2006/docPropsVTypes">
  <Template>EPAM Workshop</Template>
  <TotalTime>14866</TotalTime>
  <Words>1887</Words>
  <Application>Microsoft Office PowerPoint</Application>
  <PresentationFormat>On-screen Show (4:3)</PresentationFormat>
  <Paragraphs>191</Paragraphs>
  <Slides>17</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17</vt:i4>
      </vt:variant>
    </vt:vector>
  </HeadingPairs>
  <TitlesOfParts>
    <vt:vector size="24" baseType="lpstr">
      <vt:lpstr>Arial</vt:lpstr>
      <vt:lpstr>Calibri</vt:lpstr>
      <vt:lpstr>Times New Roman</vt:lpstr>
      <vt:lpstr>Wingdings</vt:lpstr>
      <vt:lpstr>Echo</vt:lpstr>
      <vt:lpstr>Custom Design</vt:lpstr>
      <vt:lpstr>red white and blue</vt:lpstr>
      <vt:lpstr>Benefit Statement Guidance Updates</vt:lpstr>
      <vt:lpstr>ATM Section I.B.2</vt:lpstr>
      <vt:lpstr>ATM Section I.B.3 </vt:lpstr>
      <vt:lpstr>ATM Section I.B.3 (Cont.)</vt:lpstr>
      <vt:lpstr>ATM Section I.B.3 (Cont.)</vt:lpstr>
      <vt:lpstr>ATM Section I.B.3 (Cont.)</vt:lpstr>
      <vt:lpstr>ATM Section I.B.3 (Cont.)</vt:lpstr>
      <vt:lpstr>ATM Section I.B.3 (Cont.)</vt:lpstr>
      <vt:lpstr>ATM Section I.B.3 (Cont.)</vt:lpstr>
      <vt:lpstr>ATM Section I.B.3 (Cont.)</vt:lpstr>
      <vt:lpstr>ATM Section I.B.3 (Cont.)</vt:lpstr>
      <vt:lpstr>ATM Section I.B.3 (Cont.)</vt:lpstr>
      <vt:lpstr>ATM Section I.B.3 (Cont.)</vt:lpstr>
      <vt:lpstr>ATM Section I.B.3 (Cont.)</vt:lpstr>
      <vt:lpstr>ATM Section I.B.3 (Cont.)</vt:lpstr>
      <vt:lpstr>ATM Section I.B.3 (Cont.)</vt:lpstr>
      <vt:lpstr>Resources</vt:lpstr>
    </vt:vector>
  </TitlesOfParts>
  <Company>P&amp;C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4044 Asset Allocation</dc:title>
  <dc:creator>John Sevem and Suzanne M LaPiana</dc:creator>
  <cp:lastModifiedBy>Rivers Starling</cp:lastModifiedBy>
  <cp:revision>2144</cp:revision>
  <cp:lastPrinted>2019-03-20T18:25:20Z</cp:lastPrinted>
  <dcterms:created xsi:type="dcterms:W3CDTF">2000-10-03T15:13:33Z</dcterms:created>
  <dcterms:modified xsi:type="dcterms:W3CDTF">2020-06-16T10:32:42Z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0x010100DF33EB8E5A905147A736C24DF8DBDF17</vt:lpwstr>
  </property>
  <property fmtid="{D5CDD505-2E9C-101B-9397-08002B2CF9AE}" pid="3" name="_dlc_DocIdItemGuid">
    <vt:lpwstr>483772a7-b1fd-46db-82d8-643eae8093d6</vt:lpwstr>
  </property>
</Properties>
</file>